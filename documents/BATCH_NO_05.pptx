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handoutMasterIdLst>
    <p:handoutMasterId r:id="rId30"/>
  </p:handoutMasterIdLst>
  <p:sldIdLst>
    <p:sldId id="256" r:id="rId2"/>
    <p:sldId id="303" r:id="rId3"/>
    <p:sldId id="257" r:id="rId4"/>
    <p:sldId id="258" r:id="rId5"/>
    <p:sldId id="304" r:id="rId6"/>
    <p:sldId id="259" r:id="rId7"/>
    <p:sldId id="260" r:id="rId8"/>
    <p:sldId id="261" r:id="rId9"/>
    <p:sldId id="262" r:id="rId10"/>
    <p:sldId id="263" r:id="rId11"/>
    <p:sldId id="264" r:id="rId12"/>
    <p:sldId id="265" r:id="rId13"/>
    <p:sldId id="274" r:id="rId14"/>
    <p:sldId id="275" r:id="rId15"/>
    <p:sldId id="276" r:id="rId16"/>
    <p:sldId id="278" r:id="rId17"/>
    <p:sldId id="290" r:id="rId18"/>
    <p:sldId id="291" r:id="rId19"/>
    <p:sldId id="292" r:id="rId20"/>
    <p:sldId id="294" r:id="rId21"/>
    <p:sldId id="305" r:id="rId22"/>
    <p:sldId id="297" r:id="rId23"/>
    <p:sldId id="298" r:id="rId24"/>
    <p:sldId id="299" r:id="rId25"/>
    <p:sldId id="300" r:id="rId26"/>
    <p:sldId id="301" r:id="rId27"/>
    <p:sldId id="289" r:id="rId28"/>
  </p:sldIdLst>
  <p:sldSz cx="18288000" cy="10287000"/>
  <p:notesSz cx="6858000" cy="9144000"/>
  <p:embeddedFontLst>
    <p:embeddedFont>
      <p:font typeface="Consolas" panose="020B0609020204030204" pitchFamily="49" charset="0"/>
      <p:regular r:id="rId31"/>
      <p:bold r:id="rId32"/>
      <p:italic r:id="rId33"/>
      <p:boldItalic r:id="rId34"/>
    </p:embeddedFont>
    <p:embeddedFont>
      <p:font typeface="Georgia" panose="02040502050405020303" pitchFamily="18" charset="0"/>
      <p:regular r:id="rId35"/>
      <p:bold r:id="rId36"/>
      <p:italic r:id="rId37"/>
      <p:boldItalic r:id="rId38"/>
    </p:embeddedFont>
    <p:embeddedFont>
      <p:font typeface="Georgia Pro Light" panose="02040302050405020303" pitchFamily="18" charset="0"/>
      <p:regular r:id="rId39"/>
      <p:italic r:id="rId40"/>
    </p:embeddedFont>
    <p:embeddedFont>
      <p:font typeface="Times New Roman Bold" panose="02020803070505020304" pitchFamily="18" charset="0"/>
      <p:regular r:id="rId41"/>
      <p:bold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varScale="1">
        <p:scale>
          <a:sx n="52" d="100"/>
          <a:sy n="52" d="100"/>
        </p:scale>
        <p:origin x="878"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DBC0FC-4DEC-4B36-A252-609815F01E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F38DCB3-1A8B-AD35-12D1-EE5C4CEB13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DB6858D-7474-455E-94CF-038044219899}" type="datetimeFigureOut">
              <a:rPr lang="en-IN" smtClean="0"/>
              <a:t>09-04-2026</a:t>
            </a:fld>
            <a:endParaRPr lang="en-IN"/>
          </a:p>
        </p:txBody>
      </p:sp>
      <p:sp>
        <p:nvSpPr>
          <p:cNvPr id="4" name="Footer Placeholder 3">
            <a:extLst>
              <a:ext uri="{FF2B5EF4-FFF2-40B4-BE49-F238E27FC236}">
                <a16:creationId xmlns:a16="http://schemas.microsoft.com/office/drawing/2014/main" id="{269F4386-62B6-2717-C5E8-C7A9035155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BE1C29D-3581-89A2-A72D-AB4F780A1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ADF975-1C13-48A7-913B-E1EB81A2093B}" type="slidenum">
              <a:rPr lang="en-IN" smtClean="0"/>
              <a:t>‹#›</a:t>
            </a:fld>
            <a:endParaRPr lang="en-IN"/>
          </a:p>
        </p:txBody>
      </p:sp>
    </p:spTree>
    <p:extLst>
      <p:ext uri="{BB962C8B-B14F-4D97-AF65-F5344CB8AC3E}">
        <p14:creationId xmlns:p14="http://schemas.microsoft.com/office/powerpoint/2010/main" val="23829106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31ED6-E595-44EA-8BDF-04B394C7A56D}"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13F0E3-00FE-488D-AF51-B4B9E333AC3D}" type="slidenum">
              <a:rPr lang="en-IN" smtClean="0"/>
              <a:t>‹#›</a:t>
            </a:fld>
            <a:endParaRPr lang="en-IN"/>
          </a:p>
        </p:txBody>
      </p:sp>
    </p:spTree>
    <p:extLst>
      <p:ext uri="{BB962C8B-B14F-4D97-AF65-F5344CB8AC3E}">
        <p14:creationId xmlns:p14="http://schemas.microsoft.com/office/powerpoint/2010/main" val="27469878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13F0E3-00FE-488D-AF51-B4B9E333AC3D}" type="slidenum">
              <a:rPr lang="en-IN" smtClean="0"/>
              <a:t>26</a:t>
            </a:fld>
            <a:endParaRPr lang="en-IN"/>
          </a:p>
        </p:txBody>
      </p:sp>
    </p:spTree>
    <p:extLst>
      <p:ext uri="{BB962C8B-B14F-4D97-AF65-F5344CB8AC3E}">
        <p14:creationId xmlns:p14="http://schemas.microsoft.com/office/powerpoint/2010/main" val="4230317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F39D556-29AF-4599-ACC5-D21471BEDBCF}"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A3FD22-F40A-45DC-B9CF-347BF32AA938}"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A4F6FA-1B65-4C1B-B5FB-1B39B73F758F}"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DA5AC7-8ABE-4C63-B17A-B357E6BFD4A1}" type="datetime1">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4A6A5A-CBE2-4C83-90E0-33AB69279D9F}" type="datetime1">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8C9549-241D-49E3-AE98-6EA13724A925}" type="datetime1">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CC5D08-CBF5-4CDA-AFE4-7CF65754B3B2}" type="datetime1">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9FD981-AD01-463E-BB0D-144CA1636467}" type="datetime1">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88220E-4F4D-4F9C-BBA2-1AD4C942165C}" type="datetime1">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C7FBB-94FC-4B18-961D-67066A43E955}"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2AA795-0741-46A9-B20A-4C4402BC728F}"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A338ED-C88D-4BCB-84DE-284F922D6CCE}" type="datetime1">
              <a:rPr lang="en-US" smtClean="0"/>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file+.vscode-resource.vscode-cdn.net/c%3A/Users/haris/.vscode/extensions/openai.chatgpt-26.325.31654-win32-x64/webview/"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file+.vscode-resource.vscode-cdn.net/c%3A/Users/haris/.vscode/extensions/openai.chatgpt-26.325.31654-win32-x64/webview/"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file+.vscode-resource.vscode-cdn.net/c%3A/Users/haris/.vscode/extensions/openai.chatgpt-26.325.31654-win32-x64/webview/"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file+.vscode-resource.vscode-cdn.net/c%3A/Users/haris/.vscode/extensions/openai.chatgpt-26.325.31654-win32-x64/webview/"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2239285" cy="10287000"/>
            <a:chOff x="0" y="0"/>
            <a:chExt cx="2985713" cy="13716000"/>
          </a:xfrm>
        </p:grpSpPr>
        <p:grpSp>
          <p:nvGrpSpPr>
            <p:cNvPr id="3" name="Group 3"/>
            <p:cNvGrpSpPr/>
            <p:nvPr/>
          </p:nvGrpSpPr>
          <p:grpSpPr>
            <a:xfrm>
              <a:off x="1492857" y="0"/>
              <a:ext cx="1492857" cy="13716000"/>
              <a:chOff x="0" y="0"/>
              <a:chExt cx="294885" cy="2709333"/>
            </a:xfrm>
          </p:grpSpPr>
          <p:sp>
            <p:nvSpPr>
              <p:cNvPr id="4" name="Freeform 4"/>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746428" y="0"/>
              <a:ext cx="1492857" cy="13716000"/>
              <a:chOff x="0" y="0"/>
              <a:chExt cx="294885" cy="2709333"/>
            </a:xfrm>
          </p:grpSpPr>
          <p:sp>
            <p:nvSpPr>
              <p:cNvPr id="7" name="Freeform 7"/>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1492857" cy="13716000"/>
              <a:chOff x="0" y="0"/>
              <a:chExt cx="294885" cy="2709333"/>
            </a:xfrm>
          </p:grpSpPr>
          <p:sp>
            <p:nvSpPr>
              <p:cNvPr id="10" name="Freeform 10"/>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2675301" y="2091815"/>
            <a:ext cx="15288121" cy="1015663"/>
          </a:xfrm>
          <a:prstGeom prst="rect">
            <a:avLst/>
          </a:prstGeom>
        </p:spPr>
        <p:txBody>
          <a:bodyPr wrap="square" lIns="0" tIns="0" rIns="0" bIns="0" rtlCol="0" anchor="t">
            <a:spAutoFit/>
          </a:bodyPr>
          <a:lstStyle/>
          <a:p>
            <a:pPr algn="ctr"/>
            <a:r>
              <a:rPr lang="en-IN" sz="6600" b="1" dirty="0">
                <a:latin typeface="Times New Roman" panose="02020603050405020304" pitchFamily="18" charset="0"/>
                <a:cs typeface="Times New Roman" panose="02020603050405020304" pitchFamily="18" charset="0"/>
              </a:rPr>
              <a:t>Farm-to-Market Supply Chain Platform</a:t>
            </a:r>
          </a:p>
        </p:txBody>
      </p:sp>
      <p:sp>
        <p:nvSpPr>
          <p:cNvPr id="13" name="Freeform 13"/>
          <p:cNvSpPr/>
          <p:nvPr/>
        </p:nvSpPr>
        <p:spPr>
          <a:xfrm>
            <a:off x="8217432" y="4463736"/>
            <a:ext cx="2562923" cy="2439385"/>
          </a:xfrm>
          <a:custGeom>
            <a:avLst/>
            <a:gdLst/>
            <a:ahLst/>
            <a:cxnLst/>
            <a:rect l="l" t="t" r="r" b="b"/>
            <a:pathLst>
              <a:path w="2562923" h="2439385">
                <a:moveTo>
                  <a:pt x="0" y="0"/>
                </a:moveTo>
                <a:lnTo>
                  <a:pt x="2562923" y="0"/>
                </a:lnTo>
                <a:lnTo>
                  <a:pt x="2562923" y="2439385"/>
                </a:lnTo>
                <a:lnTo>
                  <a:pt x="0" y="2439385"/>
                </a:lnTo>
                <a:lnTo>
                  <a:pt x="0" y="0"/>
                </a:lnTo>
                <a:close/>
              </a:path>
            </a:pathLst>
          </a:custGeom>
          <a:blipFill>
            <a:blip r:embed="rId2"/>
            <a:stretch>
              <a:fillRect t="-2532" b="-2532"/>
            </a:stretch>
          </a:blipFill>
        </p:spPr>
        <p:txBody>
          <a:bodyPr/>
          <a:lstStyle/>
          <a:p>
            <a:endParaRPr lang="en-IN" dirty="0"/>
          </a:p>
        </p:txBody>
      </p:sp>
      <p:sp>
        <p:nvSpPr>
          <p:cNvPr id="14" name="TextBox 14"/>
          <p:cNvSpPr txBox="1"/>
          <p:nvPr/>
        </p:nvSpPr>
        <p:spPr>
          <a:xfrm>
            <a:off x="2515782" y="6896894"/>
            <a:ext cx="7366446" cy="658835"/>
          </a:xfrm>
          <a:prstGeom prst="rect">
            <a:avLst/>
          </a:prstGeom>
        </p:spPr>
        <p:txBody>
          <a:bodyPr lIns="0" tIns="0" rIns="0" bIns="0" rtlCol="0" anchor="t">
            <a:spAutoFit/>
          </a:bodyPr>
          <a:lstStyle/>
          <a:p>
            <a:pPr algn="ctr">
              <a:lnSpc>
                <a:spcPts val="5599"/>
              </a:lnSpc>
            </a:pPr>
            <a:r>
              <a:rPr lang="en-US" sz="3600" b="1" dirty="0">
                <a:solidFill>
                  <a:srgbClr val="1C2120"/>
                </a:solidFill>
                <a:latin typeface="Times New Roman Bold"/>
                <a:ea typeface="Times New Roman Bold"/>
                <a:cs typeface="Times New Roman Bold"/>
                <a:sym typeface="Times New Roman Bold"/>
              </a:rPr>
              <a:t>Presented</a:t>
            </a:r>
            <a:r>
              <a:rPr lang="en-US" sz="3999" b="1" dirty="0">
                <a:solidFill>
                  <a:srgbClr val="1C2120"/>
                </a:solidFill>
                <a:latin typeface="Times New Roman Bold"/>
                <a:ea typeface="Times New Roman Bold"/>
                <a:cs typeface="Times New Roman Bold"/>
                <a:sym typeface="Times New Roman Bold"/>
              </a:rPr>
              <a:t> By </a:t>
            </a:r>
          </a:p>
        </p:txBody>
      </p:sp>
      <p:sp>
        <p:nvSpPr>
          <p:cNvPr id="15" name="TextBox 15"/>
          <p:cNvSpPr txBox="1"/>
          <p:nvPr/>
        </p:nvSpPr>
        <p:spPr>
          <a:xfrm>
            <a:off x="9046919" y="4776020"/>
            <a:ext cx="9525" cy="887095"/>
          </a:xfrm>
          <a:prstGeom prst="rect">
            <a:avLst/>
          </a:prstGeom>
        </p:spPr>
        <p:txBody>
          <a:bodyPr lIns="0" tIns="0" rIns="0" bIns="0" rtlCol="0" anchor="t">
            <a:spAutoFit/>
          </a:bodyPr>
          <a:lstStyle/>
          <a:p>
            <a:pPr algn="ctr">
              <a:lnSpc>
                <a:spcPts val="7279"/>
              </a:lnSpc>
            </a:pPr>
            <a:endParaRPr/>
          </a:p>
        </p:txBody>
      </p:sp>
      <p:sp>
        <p:nvSpPr>
          <p:cNvPr id="16" name="TextBox 16"/>
          <p:cNvSpPr txBox="1"/>
          <p:nvPr/>
        </p:nvSpPr>
        <p:spPr>
          <a:xfrm>
            <a:off x="2579690" y="7861968"/>
            <a:ext cx="7739671" cy="1969770"/>
          </a:xfrm>
          <a:prstGeom prst="rect">
            <a:avLst/>
          </a:prstGeom>
        </p:spPr>
        <p:txBody>
          <a:bodyPr wrap="square" lIns="0" tIns="0" rIns="0" bIns="0" rtlCol="0" anchor="t">
            <a:spAutoFit/>
          </a:bodyPr>
          <a:lstStyle/>
          <a:p>
            <a:r>
              <a:rPr lang="en-US" sz="3200" b="1" dirty="0">
                <a:solidFill>
                  <a:srgbClr val="2A2742"/>
                </a:solidFill>
                <a:latin typeface="Times New Roman" panose="02020603050405020304" pitchFamily="18" charset="0"/>
                <a:ea typeface="Arimo" pitchFamily="34" charset="-122"/>
                <a:cs typeface="Times New Roman" panose="02020603050405020304" pitchFamily="18" charset="0"/>
              </a:rPr>
              <a:t>CH. BHAVANI				22AJ1A0516</a:t>
            </a:r>
          </a:p>
          <a:p>
            <a:r>
              <a:rPr lang="en-US" sz="3200" b="1" dirty="0">
                <a:solidFill>
                  <a:srgbClr val="2A2742"/>
                </a:solidFill>
                <a:latin typeface="Times New Roman" panose="02020603050405020304" pitchFamily="18" charset="0"/>
                <a:ea typeface="Arimo" pitchFamily="34" charset="-122"/>
                <a:cs typeface="Times New Roman" panose="02020603050405020304" pitchFamily="18" charset="0"/>
              </a:rPr>
              <a:t>MVS MANIKANTA			22AJ1A0546</a:t>
            </a:r>
          </a:p>
          <a:p>
            <a:r>
              <a:rPr lang="en-US" sz="3200" b="1" dirty="0">
                <a:solidFill>
                  <a:srgbClr val="2A2742"/>
                </a:solidFill>
                <a:latin typeface="Times New Roman" panose="02020603050405020304" pitchFamily="18" charset="0"/>
                <a:ea typeface="Arimo" pitchFamily="34" charset="-122"/>
                <a:cs typeface="Times New Roman" panose="02020603050405020304" pitchFamily="18" charset="0"/>
              </a:rPr>
              <a:t>M. JYOTHI				22AJ1A0558</a:t>
            </a:r>
          </a:p>
          <a:p>
            <a:r>
              <a:rPr lang="en-US" sz="3200" b="1" dirty="0">
                <a:solidFill>
                  <a:srgbClr val="2A2742"/>
                </a:solidFill>
                <a:latin typeface="Times New Roman" panose="02020603050405020304" pitchFamily="18" charset="0"/>
                <a:ea typeface="Arimo" pitchFamily="34" charset="-122"/>
                <a:cs typeface="Times New Roman" panose="02020603050405020304" pitchFamily="18" charset="0"/>
              </a:rPr>
              <a:t>B. VENKAT CHOWDARY	22AJ1A0508</a:t>
            </a:r>
            <a:endParaRPr lang="en-US" sz="3200" b="1" dirty="0">
              <a:latin typeface="Times New Roman" panose="02020603050405020304" pitchFamily="18" charset="0"/>
            </a:endParaRPr>
          </a:p>
        </p:txBody>
      </p:sp>
      <p:sp>
        <p:nvSpPr>
          <p:cNvPr id="17" name="TextBox 17"/>
          <p:cNvSpPr txBox="1"/>
          <p:nvPr/>
        </p:nvSpPr>
        <p:spPr>
          <a:xfrm>
            <a:off x="10797561" y="7016688"/>
            <a:ext cx="7366446" cy="646780"/>
          </a:xfrm>
          <a:prstGeom prst="rect">
            <a:avLst/>
          </a:prstGeom>
        </p:spPr>
        <p:txBody>
          <a:bodyPr lIns="0" tIns="0" rIns="0" bIns="0" rtlCol="0" anchor="t">
            <a:spAutoFit/>
          </a:bodyPr>
          <a:lstStyle/>
          <a:p>
            <a:pPr algn="ctr">
              <a:lnSpc>
                <a:spcPts val="5599"/>
              </a:lnSpc>
            </a:pPr>
            <a:r>
              <a:rPr lang="en-US" sz="3600" b="1" dirty="0">
                <a:solidFill>
                  <a:srgbClr val="1C2120"/>
                </a:solidFill>
                <a:latin typeface="Times New Roman Bold"/>
                <a:ea typeface="Times New Roman Bold"/>
                <a:cs typeface="Times New Roman Bold"/>
                <a:sym typeface="Times New Roman Bold"/>
              </a:rPr>
              <a:t>Under the Esteemed Guidance of</a:t>
            </a:r>
          </a:p>
        </p:txBody>
      </p:sp>
      <p:sp>
        <p:nvSpPr>
          <p:cNvPr id="18" name="TextBox 18"/>
          <p:cNvSpPr txBox="1"/>
          <p:nvPr/>
        </p:nvSpPr>
        <p:spPr>
          <a:xfrm>
            <a:off x="10797561" y="8125085"/>
            <a:ext cx="7123926" cy="861774"/>
          </a:xfrm>
          <a:prstGeom prst="rect">
            <a:avLst/>
          </a:prstGeom>
        </p:spPr>
        <p:txBody>
          <a:bodyPr wrap="square" lIns="0" tIns="0" rIns="0" bIns="0" rtlCol="0" anchor="t">
            <a:spAutoFit/>
          </a:bodyPr>
          <a:lstStyle/>
          <a:p>
            <a:pPr algn="ctr"/>
            <a:r>
              <a:rPr lang="en-US" sz="2800" b="1" dirty="0">
                <a:latin typeface="Times New Roman"/>
                <a:ea typeface="Calibri"/>
                <a:cs typeface="Calibri"/>
              </a:rPr>
              <a:t>MRS. BHAGYA LAKSHMI (</a:t>
            </a:r>
            <a:r>
              <a:rPr lang="en-US" sz="2800" b="1" dirty="0" err="1">
                <a:latin typeface="Times New Roman"/>
                <a:ea typeface="Calibri"/>
                <a:cs typeface="Calibri"/>
              </a:rPr>
              <a:t>M.Tech</a:t>
            </a:r>
            <a:r>
              <a:rPr lang="en-US" sz="2800" b="1" dirty="0">
                <a:latin typeface="Times New Roman"/>
                <a:ea typeface="Calibri"/>
                <a:cs typeface="Calibri"/>
              </a:rPr>
              <a:t>)</a:t>
            </a:r>
          </a:p>
          <a:p>
            <a:pPr algn="ctr"/>
            <a:r>
              <a:rPr lang="en-US" sz="2800" b="1" dirty="0">
                <a:latin typeface="Times New Roman"/>
                <a:ea typeface="Calibri"/>
                <a:cs typeface="Calibri"/>
              </a:rPr>
              <a:t>Assistant </a:t>
            </a:r>
            <a:r>
              <a:rPr lang="en-US" sz="2800" b="1" dirty="0" err="1">
                <a:latin typeface="Times New Roman"/>
                <a:ea typeface="Calibri"/>
                <a:cs typeface="Calibri"/>
              </a:rPr>
              <a:t>Professior</a:t>
            </a:r>
            <a:endParaRPr lang="en-US" sz="2800" b="1" dirty="0">
              <a:latin typeface="Times New Roman"/>
              <a:ea typeface="Calibri"/>
              <a:cs typeface="Calibri"/>
            </a:endParaRPr>
          </a:p>
        </p:txBody>
      </p:sp>
      <p:sp>
        <p:nvSpPr>
          <p:cNvPr id="20" name="TextBox 20"/>
          <p:cNvSpPr txBox="1"/>
          <p:nvPr/>
        </p:nvSpPr>
        <p:spPr>
          <a:xfrm>
            <a:off x="5815670" y="3475483"/>
            <a:ext cx="7366446" cy="658835"/>
          </a:xfrm>
          <a:prstGeom prst="rect">
            <a:avLst/>
          </a:prstGeom>
        </p:spPr>
        <p:txBody>
          <a:bodyPr lIns="0" tIns="0" rIns="0" bIns="0" rtlCol="0" anchor="t">
            <a:spAutoFit/>
          </a:bodyPr>
          <a:lstStyle/>
          <a:p>
            <a:pPr algn="ctr">
              <a:lnSpc>
                <a:spcPts val="5599"/>
              </a:lnSpc>
            </a:pPr>
            <a:r>
              <a:rPr lang="en-US" sz="3999" b="1" dirty="0">
                <a:solidFill>
                  <a:srgbClr val="1C2120"/>
                </a:solidFill>
                <a:latin typeface="Times New Roman Bold"/>
                <a:ea typeface="Times New Roman Bold"/>
                <a:cs typeface="Times New Roman Bold"/>
                <a:sym typeface="Times New Roman Bold"/>
              </a:rPr>
              <a:t>BATCH - 05</a:t>
            </a:r>
          </a:p>
        </p:txBody>
      </p:sp>
      <p:sp>
        <p:nvSpPr>
          <p:cNvPr id="22" name="Slide Number Placeholder 21">
            <a:extLst>
              <a:ext uri="{FF2B5EF4-FFF2-40B4-BE49-F238E27FC236}">
                <a16:creationId xmlns:a16="http://schemas.microsoft.com/office/drawing/2014/main" id="{03DA4FE7-E720-D60C-D678-AA26CA1989A1}"/>
              </a:ext>
            </a:extLst>
          </p:cNvPr>
          <p:cNvSpPr>
            <a:spLocks noGrp="1"/>
          </p:cNvSpPr>
          <p:nvPr>
            <p:ph type="sldNum" sz="quarter" idx="12"/>
          </p:nvPr>
        </p:nvSpPr>
        <p:spPr/>
        <p:txBody>
          <a:bodyPr/>
          <a:lstStyle/>
          <a:p>
            <a:fld id="{B6F15528-21DE-4FAA-801E-634DDDAF4B2B}" type="slidenum">
              <a:rPr lang="en-US" smtClean="0"/>
              <a:pPr/>
              <a:t>1</a:t>
            </a:fld>
            <a:endParaRPr lang="en-US"/>
          </a:p>
        </p:txBody>
      </p:sp>
      <p:pic>
        <p:nvPicPr>
          <p:cNvPr id="30" name="Picture 29">
            <a:extLst>
              <a:ext uri="{FF2B5EF4-FFF2-40B4-BE49-F238E27FC236}">
                <a16:creationId xmlns:a16="http://schemas.microsoft.com/office/drawing/2014/main" id="{48BF4713-EB10-4B00-CC69-5550537BFE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3610" y="519025"/>
            <a:ext cx="15431504" cy="1600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229AE6F2-4132-A3D5-60F7-AA1C1588DA3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61F39D9-E7DC-D266-8C0A-2645CAF2E354}"/>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2FCD7487-6469-87E3-F1AD-FA567D2036BE}"/>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2E472F62-658D-193C-70A8-F5AB9E590A62}"/>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84781DC0-9560-C13F-3122-65BF19686AAE}"/>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B609AFE4-CFBF-DAD1-32BE-6C02A5054DAF}"/>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337C37FE-06C1-E1F1-9E37-5A84969F68EC}"/>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A6F8C718-1E0E-D674-E5A2-76451ADF3D98}"/>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FD64ECB7-7067-8C5E-3D0B-10AE8BE8DADF}"/>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DCDD917C-9430-104F-1D77-B7D10F838359}"/>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50A98DAE-2032-E674-E49C-2C177DB1EC24}"/>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5" name="TextBox 15">
            <a:extLst>
              <a:ext uri="{FF2B5EF4-FFF2-40B4-BE49-F238E27FC236}">
                <a16:creationId xmlns:a16="http://schemas.microsoft.com/office/drawing/2014/main" id="{2DF135DE-567A-FFF0-49FE-27FA00D22CE7}"/>
              </a:ext>
            </a:extLst>
          </p:cNvPr>
          <p:cNvSpPr txBox="1"/>
          <p:nvPr/>
        </p:nvSpPr>
        <p:spPr>
          <a:xfrm>
            <a:off x="12476087" y="6552231"/>
            <a:ext cx="9525" cy="887095"/>
          </a:xfrm>
          <a:prstGeom prst="rect">
            <a:avLst/>
          </a:prstGeom>
        </p:spPr>
        <p:txBody>
          <a:bodyPr lIns="0" tIns="0" rIns="0" bIns="0" rtlCol="0" anchor="t">
            <a:spAutoFit/>
          </a:bodyPr>
          <a:lstStyle/>
          <a:p>
            <a:pPr algn="ctr">
              <a:lnSpc>
                <a:spcPts val="7279"/>
              </a:lnSpc>
            </a:pPr>
            <a:endParaRPr/>
          </a:p>
        </p:txBody>
      </p:sp>
      <p:sp>
        <p:nvSpPr>
          <p:cNvPr id="22" name="Slide Number Placeholder 21">
            <a:extLst>
              <a:ext uri="{FF2B5EF4-FFF2-40B4-BE49-F238E27FC236}">
                <a16:creationId xmlns:a16="http://schemas.microsoft.com/office/drawing/2014/main" id="{ABD5B056-02D9-6F00-3E36-D26E68372827}"/>
              </a:ext>
            </a:extLst>
          </p:cNvPr>
          <p:cNvSpPr>
            <a:spLocks noGrp="1"/>
          </p:cNvSpPr>
          <p:nvPr>
            <p:ph type="sldNum" sz="quarter" idx="12"/>
          </p:nvPr>
        </p:nvSpPr>
        <p:spPr/>
        <p:txBody>
          <a:bodyPr/>
          <a:lstStyle/>
          <a:p>
            <a:fld id="{B6F15528-21DE-4FAA-801E-634DDDAF4B2B}" type="slidenum">
              <a:rPr lang="en-US" smtClean="0"/>
              <a:pPr/>
              <a:t>2</a:t>
            </a:fld>
            <a:endParaRPr lang="en-US"/>
          </a:p>
        </p:txBody>
      </p:sp>
      <p:grpSp>
        <p:nvGrpSpPr>
          <p:cNvPr id="105" name="Group 104">
            <a:extLst>
              <a:ext uri="{FF2B5EF4-FFF2-40B4-BE49-F238E27FC236}">
                <a16:creationId xmlns:a16="http://schemas.microsoft.com/office/drawing/2014/main" id="{BE8747A4-028A-A5D3-E11D-FABCF7AF8189}"/>
              </a:ext>
            </a:extLst>
          </p:cNvPr>
          <p:cNvGrpSpPr/>
          <p:nvPr/>
        </p:nvGrpSpPr>
        <p:grpSpPr>
          <a:xfrm rot="668752">
            <a:off x="4073719" y="5068937"/>
            <a:ext cx="1223311" cy="1439635"/>
            <a:chOff x="1254893" y="2483990"/>
            <a:chExt cx="1529140" cy="1799550"/>
          </a:xfrm>
        </p:grpSpPr>
        <p:grpSp>
          <p:nvGrpSpPr>
            <p:cNvPr id="106" name="Group 105">
              <a:extLst>
                <a:ext uri="{FF2B5EF4-FFF2-40B4-BE49-F238E27FC236}">
                  <a16:creationId xmlns:a16="http://schemas.microsoft.com/office/drawing/2014/main" id="{0DF910C5-3672-CDBE-F67A-78994FF10208}"/>
                </a:ext>
              </a:extLst>
            </p:cNvPr>
            <p:cNvGrpSpPr/>
            <p:nvPr/>
          </p:nvGrpSpPr>
          <p:grpSpPr>
            <a:xfrm rot="16200000">
              <a:off x="1255524" y="2902227"/>
              <a:ext cx="1380682" cy="1381944"/>
              <a:chOff x="1255523" y="2902229"/>
              <a:chExt cx="1380682" cy="1381944"/>
            </a:xfrm>
          </p:grpSpPr>
          <p:grpSp>
            <p:nvGrpSpPr>
              <p:cNvPr id="108" name="Group 107">
                <a:extLst>
                  <a:ext uri="{FF2B5EF4-FFF2-40B4-BE49-F238E27FC236}">
                    <a16:creationId xmlns:a16="http://schemas.microsoft.com/office/drawing/2014/main" id="{02FC4779-42E3-5D66-62C9-31B84E57DDAE}"/>
                  </a:ext>
                </a:extLst>
              </p:cNvPr>
              <p:cNvGrpSpPr/>
              <p:nvPr/>
            </p:nvGrpSpPr>
            <p:grpSpPr>
              <a:xfrm>
                <a:off x="1255523" y="2902229"/>
                <a:ext cx="1380682" cy="1380676"/>
                <a:chOff x="3815646" y="2652889"/>
                <a:chExt cx="1004711" cy="1004709"/>
              </a:xfrm>
            </p:grpSpPr>
            <p:sp>
              <p:nvSpPr>
                <p:cNvPr id="110" name="Oval 109">
                  <a:extLst>
                    <a:ext uri="{FF2B5EF4-FFF2-40B4-BE49-F238E27FC236}">
                      <a16:creationId xmlns:a16="http://schemas.microsoft.com/office/drawing/2014/main" id="{315831B7-C491-6D8D-8844-025001CABA30}"/>
                    </a:ext>
                  </a:extLst>
                </p:cNvPr>
                <p:cNvSpPr/>
                <p:nvPr/>
              </p:nvSpPr>
              <p:spPr>
                <a:xfrm>
                  <a:off x="3897850" y="2735088"/>
                  <a:ext cx="840305" cy="840304"/>
                </a:xfrm>
                <a:prstGeom prst="ellipse">
                  <a:avLst/>
                </a:prstGeom>
                <a:gradFill flip="none" rotWithShape="1">
                  <a:gsLst>
                    <a:gs pos="0">
                      <a:srgbClr val="F23558">
                        <a:shade val="30000"/>
                        <a:satMod val="115000"/>
                      </a:srgbClr>
                    </a:gs>
                    <a:gs pos="50000">
                      <a:srgbClr val="F23558">
                        <a:shade val="67500"/>
                        <a:satMod val="115000"/>
                      </a:srgbClr>
                    </a:gs>
                    <a:gs pos="100000">
                      <a:srgbClr val="F23558">
                        <a:shade val="100000"/>
                        <a:satMod val="115000"/>
                      </a:srgbClr>
                    </a:gs>
                  </a:gsLst>
                  <a:path path="circle">
                    <a:fillToRect l="100000" t="100000"/>
                  </a:path>
                  <a:tileRect r="-100000" b="-100000"/>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11" name="Oval 110">
                  <a:extLst>
                    <a:ext uri="{FF2B5EF4-FFF2-40B4-BE49-F238E27FC236}">
                      <a16:creationId xmlns:a16="http://schemas.microsoft.com/office/drawing/2014/main" id="{44201DDE-6389-F150-445A-09F7AFE4DDA4}"/>
                    </a:ext>
                  </a:extLst>
                </p:cNvPr>
                <p:cNvSpPr/>
                <p:nvPr/>
              </p:nvSpPr>
              <p:spPr>
                <a:xfrm>
                  <a:off x="3815646" y="2652889"/>
                  <a:ext cx="1004711" cy="1004709"/>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sp>
            <p:nvSpPr>
              <p:cNvPr id="109" name="Arc 108">
                <a:extLst>
                  <a:ext uri="{FF2B5EF4-FFF2-40B4-BE49-F238E27FC236}">
                    <a16:creationId xmlns:a16="http://schemas.microsoft.com/office/drawing/2014/main" id="{B11C1396-A01D-8211-B7CF-72DAC85AF961}"/>
                  </a:ext>
                </a:extLst>
              </p:cNvPr>
              <p:cNvSpPr/>
              <p:nvPr/>
            </p:nvSpPr>
            <p:spPr>
              <a:xfrm rot="6060992">
                <a:off x="1335024" y="2988327"/>
                <a:ext cx="1345064" cy="1246627"/>
              </a:xfrm>
              <a:prstGeom prst="arc">
                <a:avLst>
                  <a:gd name="adj1" fmla="val 15292452"/>
                  <a:gd name="adj2" fmla="val 20250573"/>
                </a:avLst>
              </a:prstGeom>
              <a:noFill/>
              <a:ln w="38100" cap="flat" cmpd="sng" algn="ctr">
                <a:solidFill>
                  <a:srgbClr val="F23558"/>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cxnSp>
          <p:nvCxnSpPr>
            <p:cNvPr id="107" name="Straight Arrow Connector 106">
              <a:extLst>
                <a:ext uri="{FF2B5EF4-FFF2-40B4-BE49-F238E27FC236}">
                  <a16:creationId xmlns:a16="http://schemas.microsoft.com/office/drawing/2014/main" id="{48700790-B20E-0EDA-54EF-3F190A4E44B0}"/>
                </a:ext>
              </a:extLst>
            </p:cNvPr>
            <p:cNvCxnSpPr>
              <a:cxnSpLocks/>
            </p:cNvCxnSpPr>
            <p:nvPr/>
          </p:nvCxnSpPr>
          <p:spPr>
            <a:xfrm rot="20931248" flipV="1">
              <a:off x="2342649" y="2483990"/>
              <a:ext cx="441384" cy="480883"/>
            </a:xfrm>
            <a:prstGeom prst="straightConnector1">
              <a:avLst/>
            </a:prstGeom>
            <a:noFill/>
            <a:ln w="63500" cap="flat" cmpd="sng" algn="ctr">
              <a:solidFill>
                <a:srgbClr val="F23558"/>
              </a:solidFill>
              <a:prstDash val="solid"/>
              <a:miter lim="800000"/>
              <a:tailEnd type="triangle"/>
            </a:ln>
            <a:effectLst/>
          </p:spPr>
        </p:cxnSp>
      </p:grpSp>
      <p:grpSp>
        <p:nvGrpSpPr>
          <p:cNvPr id="112" name="Group 111">
            <a:extLst>
              <a:ext uri="{FF2B5EF4-FFF2-40B4-BE49-F238E27FC236}">
                <a16:creationId xmlns:a16="http://schemas.microsoft.com/office/drawing/2014/main" id="{EC8DE36A-CFE3-8BB6-81D3-DE18F094E612}"/>
              </a:ext>
            </a:extLst>
          </p:cNvPr>
          <p:cNvGrpSpPr/>
          <p:nvPr/>
        </p:nvGrpSpPr>
        <p:grpSpPr>
          <a:xfrm rot="6045655">
            <a:off x="5290220" y="4056151"/>
            <a:ext cx="1148176" cy="1354424"/>
            <a:chOff x="1254890" y="2590511"/>
            <a:chExt cx="1435220" cy="1693030"/>
          </a:xfrm>
        </p:grpSpPr>
        <p:grpSp>
          <p:nvGrpSpPr>
            <p:cNvPr id="113" name="Group 112">
              <a:extLst>
                <a:ext uri="{FF2B5EF4-FFF2-40B4-BE49-F238E27FC236}">
                  <a16:creationId xmlns:a16="http://schemas.microsoft.com/office/drawing/2014/main" id="{D9B5DD5F-4EEB-3100-15F5-FB9718710DEE}"/>
                </a:ext>
              </a:extLst>
            </p:cNvPr>
            <p:cNvGrpSpPr/>
            <p:nvPr/>
          </p:nvGrpSpPr>
          <p:grpSpPr>
            <a:xfrm rot="16200000">
              <a:off x="1255522" y="2902227"/>
              <a:ext cx="1380682" cy="1381946"/>
              <a:chOff x="1255522" y="2902227"/>
              <a:chExt cx="1380682" cy="1381946"/>
            </a:xfrm>
          </p:grpSpPr>
          <p:grpSp>
            <p:nvGrpSpPr>
              <p:cNvPr id="115" name="Group 114">
                <a:extLst>
                  <a:ext uri="{FF2B5EF4-FFF2-40B4-BE49-F238E27FC236}">
                    <a16:creationId xmlns:a16="http://schemas.microsoft.com/office/drawing/2014/main" id="{D450E364-EB10-4A0E-028A-81CA4C4A576C}"/>
                  </a:ext>
                </a:extLst>
              </p:cNvPr>
              <p:cNvGrpSpPr/>
              <p:nvPr/>
            </p:nvGrpSpPr>
            <p:grpSpPr>
              <a:xfrm>
                <a:off x="1255522" y="2902227"/>
                <a:ext cx="1380682" cy="1380676"/>
                <a:chOff x="3815645" y="2652888"/>
                <a:chExt cx="1004711" cy="1004709"/>
              </a:xfrm>
            </p:grpSpPr>
            <p:sp>
              <p:nvSpPr>
                <p:cNvPr id="117" name="Oval 116">
                  <a:extLst>
                    <a:ext uri="{FF2B5EF4-FFF2-40B4-BE49-F238E27FC236}">
                      <a16:creationId xmlns:a16="http://schemas.microsoft.com/office/drawing/2014/main" id="{038B5BBC-B358-FC48-F4AA-3328B4BE5EA7}"/>
                    </a:ext>
                  </a:extLst>
                </p:cNvPr>
                <p:cNvSpPr/>
                <p:nvPr/>
              </p:nvSpPr>
              <p:spPr>
                <a:xfrm>
                  <a:off x="3897847" y="2735089"/>
                  <a:ext cx="840305" cy="840304"/>
                </a:xfrm>
                <a:prstGeom prst="ellipse">
                  <a:avLst/>
                </a:prstGeom>
                <a:gradFill flip="none" rotWithShape="1">
                  <a:gsLst>
                    <a:gs pos="0">
                      <a:srgbClr val="0D7AD9">
                        <a:shade val="30000"/>
                        <a:satMod val="115000"/>
                      </a:srgbClr>
                    </a:gs>
                    <a:gs pos="50000">
                      <a:srgbClr val="0D7AD9">
                        <a:shade val="67500"/>
                        <a:satMod val="115000"/>
                      </a:srgbClr>
                    </a:gs>
                    <a:gs pos="100000">
                      <a:srgbClr val="0D7AD9">
                        <a:shade val="100000"/>
                        <a:satMod val="115000"/>
                      </a:srgbClr>
                    </a:gs>
                  </a:gsLst>
                  <a:lin ang="54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18" name="Oval 117">
                  <a:extLst>
                    <a:ext uri="{FF2B5EF4-FFF2-40B4-BE49-F238E27FC236}">
                      <a16:creationId xmlns:a16="http://schemas.microsoft.com/office/drawing/2014/main" id="{E36D174C-DB77-74E9-7D85-785B842B11E1}"/>
                    </a:ext>
                  </a:extLst>
                </p:cNvPr>
                <p:cNvSpPr/>
                <p:nvPr/>
              </p:nvSpPr>
              <p:spPr>
                <a:xfrm>
                  <a:off x="3815645" y="2652888"/>
                  <a:ext cx="1004711" cy="1004709"/>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sp>
            <p:nvSpPr>
              <p:cNvPr id="116" name="Arc 115">
                <a:extLst>
                  <a:ext uri="{FF2B5EF4-FFF2-40B4-BE49-F238E27FC236}">
                    <a16:creationId xmlns:a16="http://schemas.microsoft.com/office/drawing/2014/main" id="{ACFDC7E4-765D-8103-5AFB-D54AFB26F5A4}"/>
                  </a:ext>
                </a:extLst>
              </p:cNvPr>
              <p:cNvSpPr/>
              <p:nvPr/>
            </p:nvSpPr>
            <p:spPr>
              <a:xfrm rot="6060992">
                <a:off x="1335024" y="2988327"/>
                <a:ext cx="1345064" cy="1246627"/>
              </a:xfrm>
              <a:prstGeom prst="arc">
                <a:avLst>
                  <a:gd name="adj1" fmla="val 15292452"/>
                  <a:gd name="adj2" fmla="val 20250573"/>
                </a:avLst>
              </a:prstGeom>
              <a:noFill/>
              <a:ln w="38100" cap="flat" cmpd="sng" algn="ctr">
                <a:solidFill>
                  <a:srgbClr val="0D7AD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cxnSp>
          <p:nvCxnSpPr>
            <p:cNvPr id="114" name="Straight Arrow Connector 113">
              <a:extLst>
                <a:ext uri="{FF2B5EF4-FFF2-40B4-BE49-F238E27FC236}">
                  <a16:creationId xmlns:a16="http://schemas.microsoft.com/office/drawing/2014/main" id="{B3307F93-981F-6FD8-DA76-D17CAF8B1A3A}"/>
                </a:ext>
              </a:extLst>
            </p:cNvPr>
            <p:cNvCxnSpPr>
              <a:cxnSpLocks/>
            </p:cNvCxnSpPr>
            <p:nvPr/>
          </p:nvCxnSpPr>
          <p:spPr>
            <a:xfrm rot="15554345">
              <a:off x="2302743" y="2592411"/>
              <a:ext cx="389267" cy="385467"/>
            </a:xfrm>
            <a:prstGeom prst="straightConnector1">
              <a:avLst/>
            </a:prstGeom>
            <a:noFill/>
            <a:ln w="63500" cap="flat" cmpd="sng" algn="ctr">
              <a:solidFill>
                <a:srgbClr val="0D7AD9"/>
              </a:solidFill>
              <a:prstDash val="solid"/>
              <a:miter lim="800000"/>
              <a:tailEnd type="triangle"/>
            </a:ln>
            <a:effectLst/>
          </p:spPr>
        </p:cxnSp>
      </p:grpSp>
      <p:grpSp>
        <p:nvGrpSpPr>
          <p:cNvPr id="119" name="Group 118">
            <a:extLst>
              <a:ext uri="{FF2B5EF4-FFF2-40B4-BE49-F238E27FC236}">
                <a16:creationId xmlns:a16="http://schemas.microsoft.com/office/drawing/2014/main" id="{171502F4-B5E1-F3C5-7F1C-613AF1B80932}"/>
              </a:ext>
            </a:extLst>
          </p:cNvPr>
          <p:cNvGrpSpPr/>
          <p:nvPr/>
        </p:nvGrpSpPr>
        <p:grpSpPr>
          <a:xfrm rot="668752">
            <a:off x="6227381" y="5095241"/>
            <a:ext cx="1207113" cy="1334515"/>
            <a:chOff x="1254891" y="2615399"/>
            <a:chExt cx="1508891" cy="1668143"/>
          </a:xfrm>
        </p:grpSpPr>
        <p:grpSp>
          <p:nvGrpSpPr>
            <p:cNvPr id="120" name="Group 119">
              <a:extLst>
                <a:ext uri="{FF2B5EF4-FFF2-40B4-BE49-F238E27FC236}">
                  <a16:creationId xmlns:a16="http://schemas.microsoft.com/office/drawing/2014/main" id="{B122B8FB-E682-F102-F443-6EC2B8C149E3}"/>
                </a:ext>
              </a:extLst>
            </p:cNvPr>
            <p:cNvGrpSpPr/>
            <p:nvPr/>
          </p:nvGrpSpPr>
          <p:grpSpPr>
            <a:xfrm rot="16200000">
              <a:off x="1255523" y="2902228"/>
              <a:ext cx="1380682" cy="1381945"/>
              <a:chOff x="1255522" y="2902228"/>
              <a:chExt cx="1380682" cy="1381945"/>
            </a:xfrm>
          </p:grpSpPr>
          <p:sp>
            <p:nvSpPr>
              <p:cNvPr id="122" name="Oval 121">
                <a:extLst>
                  <a:ext uri="{FF2B5EF4-FFF2-40B4-BE49-F238E27FC236}">
                    <a16:creationId xmlns:a16="http://schemas.microsoft.com/office/drawing/2014/main" id="{3C6C0200-81EA-495D-B039-2D5591FFFA0B}"/>
                  </a:ext>
                </a:extLst>
              </p:cNvPr>
              <p:cNvSpPr/>
              <p:nvPr/>
            </p:nvSpPr>
            <p:spPr>
              <a:xfrm>
                <a:off x="1255522" y="2902228"/>
                <a:ext cx="1380682" cy="1380676"/>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23" name="Arc 122">
                <a:extLst>
                  <a:ext uri="{FF2B5EF4-FFF2-40B4-BE49-F238E27FC236}">
                    <a16:creationId xmlns:a16="http://schemas.microsoft.com/office/drawing/2014/main" id="{7230511E-6404-E6C6-3442-1C478FD596A3}"/>
                  </a:ext>
                </a:extLst>
              </p:cNvPr>
              <p:cNvSpPr/>
              <p:nvPr/>
            </p:nvSpPr>
            <p:spPr>
              <a:xfrm rot="6060992">
                <a:off x="1335024" y="2988327"/>
                <a:ext cx="1345064" cy="1246627"/>
              </a:xfrm>
              <a:prstGeom prst="arc">
                <a:avLst>
                  <a:gd name="adj1" fmla="val 15292452"/>
                  <a:gd name="adj2" fmla="val 20250573"/>
                </a:avLst>
              </a:prstGeom>
              <a:noFill/>
              <a:ln w="3810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cxnSp>
          <p:nvCxnSpPr>
            <p:cNvPr id="121" name="Straight Arrow Connector 120">
              <a:extLst>
                <a:ext uri="{FF2B5EF4-FFF2-40B4-BE49-F238E27FC236}">
                  <a16:creationId xmlns:a16="http://schemas.microsoft.com/office/drawing/2014/main" id="{C4705989-A715-6E99-32BB-8DF3572BB19B}"/>
                </a:ext>
              </a:extLst>
            </p:cNvPr>
            <p:cNvCxnSpPr>
              <a:cxnSpLocks/>
            </p:cNvCxnSpPr>
            <p:nvPr/>
          </p:nvCxnSpPr>
          <p:spPr>
            <a:xfrm rot="20931248" flipV="1">
              <a:off x="2305641" y="2615399"/>
              <a:ext cx="458141" cy="356019"/>
            </a:xfrm>
            <a:prstGeom prst="straightConnector1">
              <a:avLst/>
            </a:prstGeom>
            <a:noFill/>
            <a:ln w="63500" cap="flat" cmpd="sng" algn="ctr">
              <a:solidFill>
                <a:srgbClr val="FFC000"/>
              </a:solidFill>
              <a:prstDash val="solid"/>
              <a:miter lim="800000"/>
              <a:tailEnd type="triangle"/>
            </a:ln>
            <a:effectLst/>
          </p:spPr>
        </p:cxnSp>
      </p:grpSp>
      <p:grpSp>
        <p:nvGrpSpPr>
          <p:cNvPr id="124" name="Group 123">
            <a:extLst>
              <a:ext uri="{FF2B5EF4-FFF2-40B4-BE49-F238E27FC236}">
                <a16:creationId xmlns:a16="http://schemas.microsoft.com/office/drawing/2014/main" id="{60A94DB2-9494-41AB-F279-597406007761}"/>
              </a:ext>
            </a:extLst>
          </p:cNvPr>
          <p:cNvGrpSpPr/>
          <p:nvPr/>
        </p:nvGrpSpPr>
        <p:grpSpPr>
          <a:xfrm rot="6045655">
            <a:off x="7517500" y="4116262"/>
            <a:ext cx="1130525" cy="1385673"/>
            <a:chOff x="1254891" y="2551450"/>
            <a:chExt cx="1413147" cy="1732089"/>
          </a:xfrm>
        </p:grpSpPr>
        <p:grpSp>
          <p:nvGrpSpPr>
            <p:cNvPr id="125" name="Group 124">
              <a:extLst>
                <a:ext uri="{FF2B5EF4-FFF2-40B4-BE49-F238E27FC236}">
                  <a16:creationId xmlns:a16="http://schemas.microsoft.com/office/drawing/2014/main" id="{EAEADA32-2A30-43E8-FE3F-FA48AE38A892}"/>
                </a:ext>
              </a:extLst>
            </p:cNvPr>
            <p:cNvGrpSpPr/>
            <p:nvPr/>
          </p:nvGrpSpPr>
          <p:grpSpPr>
            <a:xfrm rot="16200000">
              <a:off x="1255523" y="2902226"/>
              <a:ext cx="1380681" cy="1381946"/>
              <a:chOff x="1255524" y="2902227"/>
              <a:chExt cx="1380681" cy="1381946"/>
            </a:xfrm>
          </p:grpSpPr>
          <p:grpSp>
            <p:nvGrpSpPr>
              <p:cNvPr id="127" name="Group 126">
                <a:extLst>
                  <a:ext uri="{FF2B5EF4-FFF2-40B4-BE49-F238E27FC236}">
                    <a16:creationId xmlns:a16="http://schemas.microsoft.com/office/drawing/2014/main" id="{DC3478C4-9825-660E-3D6B-9448DC77D0D9}"/>
                  </a:ext>
                </a:extLst>
              </p:cNvPr>
              <p:cNvGrpSpPr/>
              <p:nvPr/>
            </p:nvGrpSpPr>
            <p:grpSpPr>
              <a:xfrm>
                <a:off x="1255524" y="2902227"/>
                <a:ext cx="1380681" cy="1380676"/>
                <a:chOff x="3815646" y="2652888"/>
                <a:chExt cx="1004710" cy="1004709"/>
              </a:xfrm>
            </p:grpSpPr>
            <p:sp>
              <p:nvSpPr>
                <p:cNvPr id="129" name="Oval 128">
                  <a:extLst>
                    <a:ext uri="{FF2B5EF4-FFF2-40B4-BE49-F238E27FC236}">
                      <a16:creationId xmlns:a16="http://schemas.microsoft.com/office/drawing/2014/main" id="{0CD5EAFF-6715-864E-0A7B-EC21EE8C4907}"/>
                    </a:ext>
                  </a:extLst>
                </p:cNvPr>
                <p:cNvSpPr/>
                <p:nvPr/>
              </p:nvSpPr>
              <p:spPr>
                <a:xfrm>
                  <a:off x="3897848" y="2735090"/>
                  <a:ext cx="840305" cy="840304"/>
                </a:xfrm>
                <a:prstGeom prst="ellipse">
                  <a:avLst/>
                </a:prstGeom>
                <a:gradFill flip="none" rotWithShape="1">
                  <a:gsLst>
                    <a:gs pos="0">
                      <a:srgbClr val="7030A0">
                        <a:lumMod val="60000"/>
                        <a:lumOff val="40000"/>
                        <a:shade val="30000"/>
                        <a:satMod val="115000"/>
                      </a:srgbClr>
                    </a:gs>
                    <a:gs pos="50000">
                      <a:srgbClr val="7030A0">
                        <a:lumMod val="60000"/>
                        <a:lumOff val="40000"/>
                        <a:shade val="67500"/>
                        <a:satMod val="115000"/>
                      </a:srgbClr>
                    </a:gs>
                    <a:gs pos="100000">
                      <a:srgbClr val="7030A0">
                        <a:lumMod val="60000"/>
                        <a:lumOff val="40000"/>
                        <a:shade val="100000"/>
                        <a:satMod val="115000"/>
                      </a:srgbClr>
                    </a:gs>
                  </a:gsLst>
                  <a:lin ang="81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30" name="Oval 129">
                  <a:extLst>
                    <a:ext uri="{FF2B5EF4-FFF2-40B4-BE49-F238E27FC236}">
                      <a16:creationId xmlns:a16="http://schemas.microsoft.com/office/drawing/2014/main" id="{82ABB74C-CE78-24B1-4167-8B21D618510B}"/>
                    </a:ext>
                  </a:extLst>
                </p:cNvPr>
                <p:cNvSpPr/>
                <p:nvPr/>
              </p:nvSpPr>
              <p:spPr>
                <a:xfrm>
                  <a:off x="3815645" y="2652888"/>
                  <a:ext cx="1004711" cy="1004709"/>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sp>
            <p:nvSpPr>
              <p:cNvPr id="128" name="Arc 127">
                <a:extLst>
                  <a:ext uri="{FF2B5EF4-FFF2-40B4-BE49-F238E27FC236}">
                    <a16:creationId xmlns:a16="http://schemas.microsoft.com/office/drawing/2014/main" id="{55039B4F-F483-6F72-6149-485B68985E3A}"/>
                  </a:ext>
                </a:extLst>
              </p:cNvPr>
              <p:cNvSpPr/>
              <p:nvPr/>
            </p:nvSpPr>
            <p:spPr>
              <a:xfrm rot="6060992">
                <a:off x="1335024" y="2988327"/>
                <a:ext cx="1345064" cy="1246627"/>
              </a:xfrm>
              <a:prstGeom prst="arc">
                <a:avLst>
                  <a:gd name="adj1" fmla="val 15292452"/>
                  <a:gd name="adj2" fmla="val 20250573"/>
                </a:avLst>
              </a:prstGeom>
              <a:noFill/>
              <a:ln w="38100" cap="flat" cmpd="sng" algn="ctr">
                <a:solidFill>
                  <a:srgbClr val="7030A0">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cxnSp>
          <p:nvCxnSpPr>
            <p:cNvPr id="126" name="Straight Arrow Connector 125">
              <a:extLst>
                <a:ext uri="{FF2B5EF4-FFF2-40B4-BE49-F238E27FC236}">
                  <a16:creationId xmlns:a16="http://schemas.microsoft.com/office/drawing/2014/main" id="{EBC652F8-312C-8935-B2A6-13094A4965C0}"/>
                </a:ext>
              </a:extLst>
            </p:cNvPr>
            <p:cNvCxnSpPr>
              <a:cxnSpLocks/>
            </p:cNvCxnSpPr>
            <p:nvPr/>
          </p:nvCxnSpPr>
          <p:spPr>
            <a:xfrm rot="15554345">
              <a:off x="2271025" y="2564625"/>
              <a:ext cx="410187" cy="383838"/>
            </a:xfrm>
            <a:prstGeom prst="straightConnector1">
              <a:avLst/>
            </a:prstGeom>
            <a:noFill/>
            <a:ln w="63500" cap="flat" cmpd="sng" algn="ctr">
              <a:solidFill>
                <a:srgbClr val="7030A0">
                  <a:lumMod val="60000"/>
                  <a:lumOff val="40000"/>
                </a:srgbClr>
              </a:solidFill>
              <a:prstDash val="solid"/>
              <a:miter lim="800000"/>
              <a:tailEnd type="triangle"/>
            </a:ln>
            <a:effectLst/>
          </p:spPr>
        </p:cxnSp>
      </p:grpSp>
      <p:grpSp>
        <p:nvGrpSpPr>
          <p:cNvPr id="131" name="Group 130">
            <a:extLst>
              <a:ext uri="{FF2B5EF4-FFF2-40B4-BE49-F238E27FC236}">
                <a16:creationId xmlns:a16="http://schemas.microsoft.com/office/drawing/2014/main" id="{89ACCC95-E98E-E1A8-D126-2BFC1D487F7C}"/>
              </a:ext>
            </a:extLst>
          </p:cNvPr>
          <p:cNvGrpSpPr/>
          <p:nvPr/>
        </p:nvGrpSpPr>
        <p:grpSpPr>
          <a:xfrm rot="668752">
            <a:off x="8586590" y="4987910"/>
            <a:ext cx="1230384" cy="1440790"/>
            <a:chOff x="1254891" y="2482555"/>
            <a:chExt cx="1537984" cy="1800987"/>
          </a:xfrm>
        </p:grpSpPr>
        <p:grpSp>
          <p:nvGrpSpPr>
            <p:cNvPr id="132" name="Group 131">
              <a:extLst>
                <a:ext uri="{FF2B5EF4-FFF2-40B4-BE49-F238E27FC236}">
                  <a16:creationId xmlns:a16="http://schemas.microsoft.com/office/drawing/2014/main" id="{EE499696-C24E-C889-298C-98F3301D1AD1}"/>
                </a:ext>
              </a:extLst>
            </p:cNvPr>
            <p:cNvGrpSpPr/>
            <p:nvPr/>
          </p:nvGrpSpPr>
          <p:grpSpPr>
            <a:xfrm rot="16200000">
              <a:off x="1255523" y="2902228"/>
              <a:ext cx="1380682" cy="1381945"/>
              <a:chOff x="1255522" y="2902228"/>
              <a:chExt cx="1380682" cy="1381945"/>
            </a:xfrm>
          </p:grpSpPr>
          <p:sp>
            <p:nvSpPr>
              <p:cNvPr id="134" name="Oval 133">
                <a:extLst>
                  <a:ext uri="{FF2B5EF4-FFF2-40B4-BE49-F238E27FC236}">
                    <a16:creationId xmlns:a16="http://schemas.microsoft.com/office/drawing/2014/main" id="{224A64F3-BD6C-901A-7E87-AA2BD03D0BE5}"/>
                  </a:ext>
                </a:extLst>
              </p:cNvPr>
              <p:cNvSpPr/>
              <p:nvPr/>
            </p:nvSpPr>
            <p:spPr>
              <a:xfrm>
                <a:off x="1255522" y="2902228"/>
                <a:ext cx="1380682" cy="1380676"/>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35" name="Arc 134">
                <a:extLst>
                  <a:ext uri="{FF2B5EF4-FFF2-40B4-BE49-F238E27FC236}">
                    <a16:creationId xmlns:a16="http://schemas.microsoft.com/office/drawing/2014/main" id="{AC29A45B-BCD4-CCD8-7FC2-A6C46AEC06CC}"/>
                  </a:ext>
                </a:extLst>
              </p:cNvPr>
              <p:cNvSpPr/>
              <p:nvPr/>
            </p:nvSpPr>
            <p:spPr>
              <a:xfrm rot="6060992">
                <a:off x="1335024" y="2988327"/>
                <a:ext cx="1345064" cy="1246627"/>
              </a:xfrm>
              <a:prstGeom prst="arc">
                <a:avLst>
                  <a:gd name="adj1" fmla="val 15292452"/>
                  <a:gd name="adj2" fmla="val 20250573"/>
                </a:avLst>
              </a:prstGeom>
              <a:noFill/>
              <a:ln w="38100" cap="flat" cmpd="sng" algn="ctr">
                <a:solidFill>
                  <a:srgbClr val="F25E3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cxnSp>
          <p:nvCxnSpPr>
            <p:cNvPr id="133" name="Straight Arrow Connector 132">
              <a:extLst>
                <a:ext uri="{FF2B5EF4-FFF2-40B4-BE49-F238E27FC236}">
                  <a16:creationId xmlns:a16="http://schemas.microsoft.com/office/drawing/2014/main" id="{8CA5744B-F795-4D08-5AFA-246C6FB3AA71}"/>
                </a:ext>
              </a:extLst>
            </p:cNvPr>
            <p:cNvCxnSpPr>
              <a:cxnSpLocks/>
            </p:cNvCxnSpPr>
            <p:nvPr/>
          </p:nvCxnSpPr>
          <p:spPr>
            <a:xfrm rot="20931248" flipV="1">
              <a:off x="2311427" y="2482555"/>
              <a:ext cx="481448" cy="482871"/>
            </a:xfrm>
            <a:prstGeom prst="straightConnector1">
              <a:avLst/>
            </a:prstGeom>
            <a:noFill/>
            <a:ln w="63500" cap="flat" cmpd="sng" algn="ctr">
              <a:solidFill>
                <a:srgbClr val="F25E3D"/>
              </a:solidFill>
              <a:prstDash val="solid"/>
              <a:miter lim="800000"/>
              <a:tailEnd type="triangle"/>
            </a:ln>
            <a:effectLst/>
          </p:spPr>
        </p:cxnSp>
      </p:grpSp>
      <p:grpSp>
        <p:nvGrpSpPr>
          <p:cNvPr id="136" name="Group 135">
            <a:extLst>
              <a:ext uri="{FF2B5EF4-FFF2-40B4-BE49-F238E27FC236}">
                <a16:creationId xmlns:a16="http://schemas.microsoft.com/office/drawing/2014/main" id="{7AACC28F-8194-DE6F-6B9A-963809E63867}"/>
              </a:ext>
            </a:extLst>
          </p:cNvPr>
          <p:cNvGrpSpPr/>
          <p:nvPr/>
        </p:nvGrpSpPr>
        <p:grpSpPr>
          <a:xfrm rot="6045655">
            <a:off x="9826534" y="4046091"/>
            <a:ext cx="1181457" cy="1355690"/>
            <a:chOff x="1254890" y="2588929"/>
            <a:chExt cx="1476821" cy="1694612"/>
          </a:xfrm>
        </p:grpSpPr>
        <p:grpSp>
          <p:nvGrpSpPr>
            <p:cNvPr id="137" name="Group 136">
              <a:extLst>
                <a:ext uri="{FF2B5EF4-FFF2-40B4-BE49-F238E27FC236}">
                  <a16:creationId xmlns:a16="http://schemas.microsoft.com/office/drawing/2014/main" id="{938A9102-B040-1CDC-578B-595E3D9ED2F2}"/>
                </a:ext>
              </a:extLst>
            </p:cNvPr>
            <p:cNvGrpSpPr/>
            <p:nvPr/>
          </p:nvGrpSpPr>
          <p:grpSpPr>
            <a:xfrm rot="16200000">
              <a:off x="1255522" y="2902227"/>
              <a:ext cx="1380682" cy="1381946"/>
              <a:chOff x="1255522" y="2902227"/>
              <a:chExt cx="1380682" cy="1381946"/>
            </a:xfrm>
          </p:grpSpPr>
          <p:grpSp>
            <p:nvGrpSpPr>
              <p:cNvPr id="139" name="Group 138">
                <a:extLst>
                  <a:ext uri="{FF2B5EF4-FFF2-40B4-BE49-F238E27FC236}">
                    <a16:creationId xmlns:a16="http://schemas.microsoft.com/office/drawing/2014/main" id="{04DBD1F3-62C1-752C-B22A-C4496CC5CC73}"/>
                  </a:ext>
                </a:extLst>
              </p:cNvPr>
              <p:cNvGrpSpPr/>
              <p:nvPr/>
            </p:nvGrpSpPr>
            <p:grpSpPr>
              <a:xfrm>
                <a:off x="1255522" y="2902227"/>
                <a:ext cx="1380682" cy="1380676"/>
                <a:chOff x="3815645" y="2652888"/>
                <a:chExt cx="1004711" cy="1004709"/>
              </a:xfrm>
            </p:grpSpPr>
            <p:sp>
              <p:nvSpPr>
                <p:cNvPr id="141" name="Oval 140">
                  <a:extLst>
                    <a:ext uri="{FF2B5EF4-FFF2-40B4-BE49-F238E27FC236}">
                      <a16:creationId xmlns:a16="http://schemas.microsoft.com/office/drawing/2014/main" id="{0E10CB81-6B47-D1C4-5935-3C9058D8D47F}"/>
                    </a:ext>
                  </a:extLst>
                </p:cNvPr>
                <p:cNvSpPr/>
                <p:nvPr/>
              </p:nvSpPr>
              <p:spPr>
                <a:xfrm>
                  <a:off x="3897848" y="2735090"/>
                  <a:ext cx="840305" cy="840304"/>
                </a:xfrm>
                <a:prstGeom prst="ellipse">
                  <a:avLst/>
                </a:prstGeom>
                <a:gradFill flip="none" rotWithShape="1">
                  <a:gsLst>
                    <a:gs pos="0">
                      <a:srgbClr val="00B0F0">
                        <a:lumMod val="75000"/>
                        <a:shade val="30000"/>
                        <a:satMod val="115000"/>
                      </a:srgbClr>
                    </a:gs>
                    <a:gs pos="50000">
                      <a:srgbClr val="00B0F0">
                        <a:lumMod val="75000"/>
                        <a:shade val="67500"/>
                        <a:satMod val="115000"/>
                      </a:srgbClr>
                    </a:gs>
                    <a:gs pos="100000">
                      <a:srgbClr val="00B0F0">
                        <a:lumMod val="75000"/>
                        <a:shade val="100000"/>
                        <a:satMod val="115000"/>
                      </a:srgbClr>
                    </a:gs>
                  </a:gsLst>
                  <a:lin ang="81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42" name="Oval 141">
                  <a:extLst>
                    <a:ext uri="{FF2B5EF4-FFF2-40B4-BE49-F238E27FC236}">
                      <a16:creationId xmlns:a16="http://schemas.microsoft.com/office/drawing/2014/main" id="{71F76C0A-9BD6-3CCA-C591-3C917E1DB1CF}"/>
                    </a:ext>
                  </a:extLst>
                </p:cNvPr>
                <p:cNvSpPr/>
                <p:nvPr/>
              </p:nvSpPr>
              <p:spPr>
                <a:xfrm>
                  <a:off x="3815645" y="2652888"/>
                  <a:ext cx="1004711" cy="1004709"/>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sp>
            <p:nvSpPr>
              <p:cNvPr id="140" name="Arc 139">
                <a:extLst>
                  <a:ext uri="{FF2B5EF4-FFF2-40B4-BE49-F238E27FC236}">
                    <a16:creationId xmlns:a16="http://schemas.microsoft.com/office/drawing/2014/main" id="{C83FAEE0-580D-26BD-F426-3E8061385105}"/>
                  </a:ext>
                </a:extLst>
              </p:cNvPr>
              <p:cNvSpPr/>
              <p:nvPr/>
            </p:nvSpPr>
            <p:spPr>
              <a:xfrm rot="6060992">
                <a:off x="1335024" y="2988327"/>
                <a:ext cx="1345064" cy="1246627"/>
              </a:xfrm>
              <a:prstGeom prst="arc">
                <a:avLst>
                  <a:gd name="adj1" fmla="val 15292452"/>
                  <a:gd name="adj2" fmla="val 20250573"/>
                </a:avLst>
              </a:prstGeom>
              <a:noFill/>
              <a:ln w="38100" cap="flat" cmpd="sng" algn="ctr">
                <a:solidFill>
                  <a:srgbClr val="00B0F0">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cxnSp>
          <p:nvCxnSpPr>
            <p:cNvPr id="138" name="Straight Arrow Connector 137">
              <a:extLst>
                <a:ext uri="{FF2B5EF4-FFF2-40B4-BE49-F238E27FC236}">
                  <a16:creationId xmlns:a16="http://schemas.microsoft.com/office/drawing/2014/main" id="{BE4EF1F6-6BBF-2C1F-AA13-5B46D05F75F8}"/>
                </a:ext>
              </a:extLst>
            </p:cNvPr>
            <p:cNvCxnSpPr>
              <a:cxnSpLocks/>
            </p:cNvCxnSpPr>
            <p:nvPr/>
          </p:nvCxnSpPr>
          <p:spPr>
            <a:xfrm rot="15554345">
              <a:off x="2324637" y="2568787"/>
              <a:ext cx="386931" cy="427216"/>
            </a:xfrm>
            <a:prstGeom prst="straightConnector1">
              <a:avLst/>
            </a:prstGeom>
            <a:noFill/>
            <a:ln w="63500" cap="flat" cmpd="sng" algn="ctr">
              <a:solidFill>
                <a:srgbClr val="00B0F0">
                  <a:lumMod val="75000"/>
                </a:srgbClr>
              </a:solidFill>
              <a:prstDash val="solid"/>
              <a:miter lim="800000"/>
              <a:tailEnd type="triangle"/>
            </a:ln>
            <a:effectLst/>
          </p:spPr>
        </p:cxnSp>
      </p:grpSp>
      <p:grpSp>
        <p:nvGrpSpPr>
          <p:cNvPr id="143" name="Group 142">
            <a:extLst>
              <a:ext uri="{FF2B5EF4-FFF2-40B4-BE49-F238E27FC236}">
                <a16:creationId xmlns:a16="http://schemas.microsoft.com/office/drawing/2014/main" id="{6137A2E4-E899-2FB4-38CF-A67BE86C7684}"/>
              </a:ext>
            </a:extLst>
          </p:cNvPr>
          <p:cNvGrpSpPr/>
          <p:nvPr/>
        </p:nvGrpSpPr>
        <p:grpSpPr>
          <a:xfrm rot="668752">
            <a:off x="10848791" y="4996670"/>
            <a:ext cx="1105558" cy="1402226"/>
            <a:chOff x="1254890" y="2530758"/>
            <a:chExt cx="1381946" cy="1752783"/>
          </a:xfrm>
        </p:grpSpPr>
        <p:grpSp>
          <p:nvGrpSpPr>
            <p:cNvPr id="144" name="Group 143">
              <a:extLst>
                <a:ext uri="{FF2B5EF4-FFF2-40B4-BE49-F238E27FC236}">
                  <a16:creationId xmlns:a16="http://schemas.microsoft.com/office/drawing/2014/main" id="{0B40BDDF-6218-54E3-5246-C8199B3DADE0}"/>
                </a:ext>
              </a:extLst>
            </p:cNvPr>
            <p:cNvGrpSpPr/>
            <p:nvPr/>
          </p:nvGrpSpPr>
          <p:grpSpPr>
            <a:xfrm rot="16200000">
              <a:off x="1255522" y="2902227"/>
              <a:ext cx="1380682" cy="1381946"/>
              <a:chOff x="1255522" y="2902227"/>
              <a:chExt cx="1380682" cy="1381946"/>
            </a:xfrm>
          </p:grpSpPr>
          <p:grpSp>
            <p:nvGrpSpPr>
              <p:cNvPr id="146" name="Group 145">
                <a:extLst>
                  <a:ext uri="{FF2B5EF4-FFF2-40B4-BE49-F238E27FC236}">
                    <a16:creationId xmlns:a16="http://schemas.microsoft.com/office/drawing/2014/main" id="{898E7866-6BFC-F6B7-1270-03A221FCEB81}"/>
                  </a:ext>
                </a:extLst>
              </p:cNvPr>
              <p:cNvGrpSpPr/>
              <p:nvPr/>
            </p:nvGrpSpPr>
            <p:grpSpPr>
              <a:xfrm>
                <a:off x="1255522" y="2902227"/>
                <a:ext cx="1380682" cy="1380676"/>
                <a:chOff x="3815645" y="2652888"/>
                <a:chExt cx="1004711" cy="1004709"/>
              </a:xfrm>
            </p:grpSpPr>
            <p:sp>
              <p:nvSpPr>
                <p:cNvPr id="148" name="Oval 147">
                  <a:extLst>
                    <a:ext uri="{FF2B5EF4-FFF2-40B4-BE49-F238E27FC236}">
                      <a16:creationId xmlns:a16="http://schemas.microsoft.com/office/drawing/2014/main" id="{FF93C488-EC61-FBA9-55E1-D5111CB2587B}"/>
                    </a:ext>
                  </a:extLst>
                </p:cNvPr>
                <p:cNvSpPr/>
                <p:nvPr/>
              </p:nvSpPr>
              <p:spPr>
                <a:xfrm>
                  <a:off x="3897848" y="2735090"/>
                  <a:ext cx="840305" cy="840304"/>
                </a:xfrm>
                <a:prstGeom prst="ellipse">
                  <a:avLst/>
                </a:prstGeom>
                <a:solidFill>
                  <a:sysClr val="window" lastClr="FFFFFF">
                    <a:lumMod val="50000"/>
                  </a:sysClr>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49" name="Oval 148">
                  <a:extLst>
                    <a:ext uri="{FF2B5EF4-FFF2-40B4-BE49-F238E27FC236}">
                      <a16:creationId xmlns:a16="http://schemas.microsoft.com/office/drawing/2014/main" id="{D3544401-0E9B-7FB5-E637-1B15EB65AD2E}"/>
                    </a:ext>
                  </a:extLst>
                </p:cNvPr>
                <p:cNvSpPr/>
                <p:nvPr/>
              </p:nvSpPr>
              <p:spPr>
                <a:xfrm>
                  <a:off x="3815645" y="2652888"/>
                  <a:ext cx="1004711" cy="1004709"/>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sp>
            <p:nvSpPr>
              <p:cNvPr id="147" name="Arc 146">
                <a:extLst>
                  <a:ext uri="{FF2B5EF4-FFF2-40B4-BE49-F238E27FC236}">
                    <a16:creationId xmlns:a16="http://schemas.microsoft.com/office/drawing/2014/main" id="{080B5F24-1C62-3F7D-E53D-ADD2BB9526CF}"/>
                  </a:ext>
                </a:extLst>
              </p:cNvPr>
              <p:cNvSpPr/>
              <p:nvPr/>
            </p:nvSpPr>
            <p:spPr>
              <a:xfrm rot="6060992">
                <a:off x="1335024" y="2988327"/>
                <a:ext cx="1345064" cy="1246627"/>
              </a:xfrm>
              <a:prstGeom prst="arc">
                <a:avLst>
                  <a:gd name="adj1" fmla="val 15292452"/>
                  <a:gd name="adj2" fmla="val 20250573"/>
                </a:avLst>
              </a:prstGeom>
              <a:noFill/>
              <a:ln w="38100"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cxnSp>
          <p:nvCxnSpPr>
            <p:cNvPr id="145" name="Straight Arrow Connector 144">
              <a:extLst>
                <a:ext uri="{FF2B5EF4-FFF2-40B4-BE49-F238E27FC236}">
                  <a16:creationId xmlns:a16="http://schemas.microsoft.com/office/drawing/2014/main" id="{CEFB9441-DAFE-D15B-87BF-9C68FCCC4E4B}"/>
                </a:ext>
              </a:extLst>
            </p:cNvPr>
            <p:cNvCxnSpPr>
              <a:cxnSpLocks/>
            </p:cNvCxnSpPr>
            <p:nvPr/>
          </p:nvCxnSpPr>
          <p:spPr>
            <a:xfrm rot="20931248" flipV="1">
              <a:off x="2264034" y="2530758"/>
              <a:ext cx="363758" cy="466174"/>
            </a:xfrm>
            <a:prstGeom prst="straightConnector1">
              <a:avLst/>
            </a:prstGeom>
            <a:noFill/>
            <a:ln w="63500" cap="flat" cmpd="sng" algn="ctr">
              <a:solidFill>
                <a:sysClr val="window" lastClr="FFFFFF">
                  <a:lumMod val="50000"/>
                </a:sysClr>
              </a:solidFill>
              <a:prstDash val="solid"/>
              <a:miter lim="800000"/>
              <a:tailEnd type="triangle"/>
            </a:ln>
            <a:effectLst/>
          </p:spPr>
        </p:cxnSp>
      </p:grpSp>
      <p:grpSp>
        <p:nvGrpSpPr>
          <p:cNvPr id="150" name="Group 149">
            <a:extLst>
              <a:ext uri="{FF2B5EF4-FFF2-40B4-BE49-F238E27FC236}">
                <a16:creationId xmlns:a16="http://schemas.microsoft.com/office/drawing/2014/main" id="{18315BEE-7B53-0BEE-1DA5-BD7909EA93BB}"/>
              </a:ext>
            </a:extLst>
          </p:cNvPr>
          <p:cNvGrpSpPr/>
          <p:nvPr/>
        </p:nvGrpSpPr>
        <p:grpSpPr>
          <a:xfrm rot="645655">
            <a:off x="11860784" y="4101335"/>
            <a:ext cx="1104546" cy="1105555"/>
            <a:chOff x="1255522" y="2902227"/>
            <a:chExt cx="1380682" cy="1381945"/>
          </a:xfrm>
        </p:grpSpPr>
        <p:grpSp>
          <p:nvGrpSpPr>
            <p:cNvPr id="151" name="Group 150">
              <a:extLst>
                <a:ext uri="{FF2B5EF4-FFF2-40B4-BE49-F238E27FC236}">
                  <a16:creationId xmlns:a16="http://schemas.microsoft.com/office/drawing/2014/main" id="{DC2997EE-33C0-D55E-0FE3-BDC39461626E}"/>
                </a:ext>
              </a:extLst>
            </p:cNvPr>
            <p:cNvGrpSpPr/>
            <p:nvPr/>
          </p:nvGrpSpPr>
          <p:grpSpPr>
            <a:xfrm>
              <a:off x="1255522" y="2902227"/>
              <a:ext cx="1380682" cy="1380676"/>
              <a:chOff x="3815645" y="2652888"/>
              <a:chExt cx="1004711" cy="1004709"/>
            </a:xfrm>
          </p:grpSpPr>
          <p:sp>
            <p:nvSpPr>
              <p:cNvPr id="153" name="Oval 152">
                <a:extLst>
                  <a:ext uri="{FF2B5EF4-FFF2-40B4-BE49-F238E27FC236}">
                    <a16:creationId xmlns:a16="http://schemas.microsoft.com/office/drawing/2014/main" id="{F5B00691-7A6C-CF7F-6896-2B22508C793E}"/>
                  </a:ext>
                </a:extLst>
              </p:cNvPr>
              <p:cNvSpPr/>
              <p:nvPr/>
            </p:nvSpPr>
            <p:spPr>
              <a:xfrm>
                <a:off x="3897848" y="2735090"/>
                <a:ext cx="840305" cy="840304"/>
              </a:xfrm>
              <a:prstGeom prst="ellipse">
                <a:avLst/>
              </a:prstGeom>
              <a:gradFill flip="none" rotWithShape="1">
                <a:gsLst>
                  <a:gs pos="0">
                    <a:srgbClr val="0D7AD9">
                      <a:lumMod val="20000"/>
                      <a:lumOff val="80000"/>
                      <a:shade val="30000"/>
                      <a:satMod val="115000"/>
                    </a:srgbClr>
                  </a:gs>
                  <a:gs pos="50000">
                    <a:srgbClr val="0D7AD9">
                      <a:lumMod val="20000"/>
                      <a:lumOff val="80000"/>
                      <a:shade val="67500"/>
                      <a:satMod val="115000"/>
                    </a:srgbClr>
                  </a:gs>
                  <a:gs pos="100000">
                    <a:srgbClr val="0D7AD9">
                      <a:lumMod val="20000"/>
                      <a:lumOff val="80000"/>
                      <a:shade val="100000"/>
                      <a:satMod val="115000"/>
                    </a:srgbClr>
                  </a:gs>
                </a:gsLst>
                <a:lin ang="81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54" name="Oval 153">
                <a:extLst>
                  <a:ext uri="{FF2B5EF4-FFF2-40B4-BE49-F238E27FC236}">
                    <a16:creationId xmlns:a16="http://schemas.microsoft.com/office/drawing/2014/main" id="{76CC47D0-5563-65AA-F795-030F02D1B023}"/>
                  </a:ext>
                </a:extLst>
              </p:cNvPr>
              <p:cNvSpPr/>
              <p:nvPr/>
            </p:nvSpPr>
            <p:spPr>
              <a:xfrm>
                <a:off x="3815645" y="2652888"/>
                <a:ext cx="1004711" cy="1004709"/>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sp>
          <p:nvSpPr>
            <p:cNvPr id="152" name="Arc 151">
              <a:extLst>
                <a:ext uri="{FF2B5EF4-FFF2-40B4-BE49-F238E27FC236}">
                  <a16:creationId xmlns:a16="http://schemas.microsoft.com/office/drawing/2014/main" id="{8A7F5814-04DF-28FE-12EB-56EC004A9790}"/>
                </a:ext>
              </a:extLst>
            </p:cNvPr>
            <p:cNvSpPr/>
            <p:nvPr/>
          </p:nvSpPr>
          <p:spPr>
            <a:xfrm rot="6060992">
              <a:off x="1335024" y="2988327"/>
              <a:ext cx="1345064" cy="1246627"/>
            </a:xfrm>
            <a:prstGeom prst="arc">
              <a:avLst>
                <a:gd name="adj1" fmla="val 15292452"/>
                <a:gd name="adj2" fmla="val 20250573"/>
              </a:avLst>
            </a:prstGeom>
            <a:noFill/>
            <a:ln w="38100" cap="flat" cmpd="sng" algn="ctr">
              <a:solidFill>
                <a:srgbClr val="44546A">
                  <a:lumMod val="40000"/>
                  <a:lumOff val="6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id="{C03B4A2C-C2A7-5B6A-7C54-93AD5A39F794}"/>
              </a:ext>
            </a:extLst>
          </p:cNvPr>
          <p:cNvGrpSpPr/>
          <p:nvPr/>
        </p:nvGrpSpPr>
        <p:grpSpPr>
          <a:xfrm>
            <a:off x="3889653" y="6759996"/>
            <a:ext cx="1459159" cy="532132"/>
            <a:chOff x="350992" y="4701648"/>
            <a:chExt cx="1823949" cy="665164"/>
          </a:xfrm>
        </p:grpSpPr>
        <p:sp>
          <p:nvSpPr>
            <p:cNvPr id="156" name="TextBox 155">
              <a:extLst>
                <a:ext uri="{FF2B5EF4-FFF2-40B4-BE49-F238E27FC236}">
                  <a16:creationId xmlns:a16="http://schemas.microsoft.com/office/drawing/2014/main" id="{B18EF06C-5D38-262F-0E06-08F67B29C1D6}"/>
                </a:ext>
              </a:extLst>
            </p:cNvPr>
            <p:cNvSpPr txBox="1"/>
            <p:nvPr/>
          </p:nvSpPr>
          <p:spPr>
            <a:xfrm>
              <a:off x="350992" y="5039800"/>
              <a:ext cx="1823949" cy="327012"/>
            </a:xfrm>
            <a:prstGeom prst="rect">
              <a:avLst/>
            </a:prstGeom>
            <a:noFill/>
          </p:spPr>
          <p:txBody>
            <a:bodyPr wrap="square" rtlCol="0">
              <a:spAutoFit/>
            </a:bodyPr>
            <a:lstStyle/>
            <a:p>
              <a:pPr algn="ctr"/>
              <a:endParaRPr lang="en-US" sz="1100" dirty="0">
                <a:ln w="0"/>
                <a:solidFill>
                  <a:prstClr val="black"/>
                </a:solidFill>
                <a:effectLst>
                  <a:outerShdw blurRad="38100" dist="19050" dir="2700000" algn="tl" rotWithShape="0">
                    <a:prstClr val="black">
                      <a:alpha val="40000"/>
                    </a:prstClr>
                  </a:outerShdw>
                </a:effectLst>
                <a:latin typeface="Georgia Pro Light" panose="02040302050405020303" pitchFamily="18" charset="0"/>
              </a:endParaRPr>
            </a:p>
          </p:txBody>
        </p:sp>
        <p:sp>
          <p:nvSpPr>
            <p:cNvPr id="157" name="TextBox 156">
              <a:extLst>
                <a:ext uri="{FF2B5EF4-FFF2-40B4-BE49-F238E27FC236}">
                  <a16:creationId xmlns:a16="http://schemas.microsoft.com/office/drawing/2014/main" id="{9F261BB0-09ED-103B-A623-F7B9FC78EC43}"/>
                </a:ext>
              </a:extLst>
            </p:cNvPr>
            <p:cNvSpPr txBox="1"/>
            <p:nvPr/>
          </p:nvSpPr>
          <p:spPr>
            <a:xfrm>
              <a:off x="350992" y="4701648"/>
              <a:ext cx="1823949" cy="423192"/>
            </a:xfrm>
            <a:prstGeom prst="rect">
              <a:avLst/>
            </a:prstGeom>
            <a:noFill/>
          </p:spPr>
          <p:txBody>
            <a:bodyPr wrap="square" rtlCol="0">
              <a:spAutoFit/>
            </a:bodyPr>
            <a:lstStyle/>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ABSTRACT</a:t>
              </a:r>
            </a:p>
          </p:txBody>
        </p:sp>
      </p:grpSp>
      <p:sp>
        <p:nvSpPr>
          <p:cNvPr id="158" name="TextBox 157">
            <a:extLst>
              <a:ext uri="{FF2B5EF4-FFF2-40B4-BE49-F238E27FC236}">
                <a16:creationId xmlns:a16="http://schemas.microsoft.com/office/drawing/2014/main" id="{04A685EC-88B9-C8E8-2809-4097E11C90C0}"/>
              </a:ext>
            </a:extLst>
          </p:cNvPr>
          <p:cNvSpPr txBox="1"/>
          <p:nvPr/>
        </p:nvSpPr>
        <p:spPr>
          <a:xfrm>
            <a:off x="5602616" y="6628877"/>
            <a:ext cx="2423047" cy="584775"/>
          </a:xfrm>
          <a:prstGeom prst="rect">
            <a:avLst/>
          </a:prstGeom>
          <a:noFill/>
        </p:spPr>
        <p:txBody>
          <a:bodyPr wrap="square" rtlCol="0">
            <a:spAutoFit/>
          </a:bodyPr>
          <a:lstStyle/>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LITERATURE </a:t>
            </a:r>
          </a:p>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REVIEW </a:t>
            </a:r>
          </a:p>
        </p:txBody>
      </p:sp>
      <p:sp>
        <p:nvSpPr>
          <p:cNvPr id="159" name="TextBox 158">
            <a:extLst>
              <a:ext uri="{FF2B5EF4-FFF2-40B4-BE49-F238E27FC236}">
                <a16:creationId xmlns:a16="http://schemas.microsoft.com/office/drawing/2014/main" id="{C773F252-BF1A-3590-A645-C36DF2CE1A0D}"/>
              </a:ext>
            </a:extLst>
          </p:cNvPr>
          <p:cNvSpPr txBox="1"/>
          <p:nvPr/>
        </p:nvSpPr>
        <p:spPr>
          <a:xfrm>
            <a:off x="8192408" y="6589269"/>
            <a:ext cx="1999205" cy="584775"/>
          </a:xfrm>
          <a:prstGeom prst="rect">
            <a:avLst/>
          </a:prstGeom>
          <a:noFill/>
        </p:spPr>
        <p:txBody>
          <a:bodyPr wrap="square" rtlCol="0">
            <a:spAutoFit/>
          </a:bodyPr>
          <a:lstStyle/>
          <a:p>
            <a:pPr algn="ctr"/>
            <a:r>
              <a:rPr lang="en-US" sz="1600" b="1" dirty="0">
                <a:solidFill>
                  <a:srgbClr val="000000"/>
                </a:solidFill>
                <a:latin typeface="Times New Roman Bold"/>
                <a:ea typeface="Times New Roman Bold"/>
                <a:cs typeface="Times New Roman Bold"/>
                <a:sym typeface="Times New Roman Bold"/>
              </a:rPr>
              <a:t>ARCHITECTURE</a:t>
            </a:r>
          </a:p>
          <a:p>
            <a:pPr algn="ctr"/>
            <a:endPar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endParaRPr>
          </a:p>
        </p:txBody>
      </p:sp>
      <p:sp>
        <p:nvSpPr>
          <p:cNvPr id="160" name="TextBox 159">
            <a:extLst>
              <a:ext uri="{FF2B5EF4-FFF2-40B4-BE49-F238E27FC236}">
                <a16:creationId xmlns:a16="http://schemas.microsoft.com/office/drawing/2014/main" id="{299FBE7E-F6D2-C03E-6856-5C28E27F8B8B}"/>
              </a:ext>
            </a:extLst>
          </p:cNvPr>
          <p:cNvSpPr txBox="1"/>
          <p:nvPr/>
        </p:nvSpPr>
        <p:spPr>
          <a:xfrm>
            <a:off x="11697845" y="3544971"/>
            <a:ext cx="1502903" cy="338554"/>
          </a:xfrm>
          <a:prstGeom prst="rect">
            <a:avLst/>
          </a:prstGeom>
          <a:noFill/>
        </p:spPr>
        <p:txBody>
          <a:bodyPr wrap="square" rtlCol="0">
            <a:spAutoFit/>
          </a:bodyPr>
          <a:lstStyle/>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ALGORITHM</a:t>
            </a:r>
          </a:p>
        </p:txBody>
      </p:sp>
      <p:grpSp>
        <p:nvGrpSpPr>
          <p:cNvPr id="161" name="Group 160">
            <a:extLst>
              <a:ext uri="{FF2B5EF4-FFF2-40B4-BE49-F238E27FC236}">
                <a16:creationId xmlns:a16="http://schemas.microsoft.com/office/drawing/2014/main" id="{36D18255-071B-FB04-EF14-DB13A7FFD269}"/>
              </a:ext>
            </a:extLst>
          </p:cNvPr>
          <p:cNvGrpSpPr/>
          <p:nvPr/>
        </p:nvGrpSpPr>
        <p:grpSpPr>
          <a:xfrm>
            <a:off x="4531858" y="3731536"/>
            <a:ext cx="2176818" cy="338554"/>
            <a:chOff x="212966" y="5497363"/>
            <a:chExt cx="2721022" cy="423192"/>
          </a:xfrm>
        </p:grpSpPr>
        <p:sp>
          <p:nvSpPr>
            <p:cNvPr id="162" name="TextBox 161">
              <a:extLst>
                <a:ext uri="{FF2B5EF4-FFF2-40B4-BE49-F238E27FC236}">
                  <a16:creationId xmlns:a16="http://schemas.microsoft.com/office/drawing/2014/main" id="{EA16B381-551E-3112-A548-35E76AB17C63}"/>
                </a:ext>
              </a:extLst>
            </p:cNvPr>
            <p:cNvSpPr txBox="1"/>
            <p:nvPr/>
          </p:nvSpPr>
          <p:spPr>
            <a:xfrm>
              <a:off x="212966" y="5558754"/>
              <a:ext cx="1823949" cy="327012"/>
            </a:xfrm>
            <a:prstGeom prst="rect">
              <a:avLst/>
            </a:prstGeom>
            <a:noFill/>
          </p:spPr>
          <p:txBody>
            <a:bodyPr wrap="square" rtlCol="0">
              <a:spAutoFit/>
            </a:bodyPr>
            <a:lstStyle/>
            <a:p>
              <a:pPr algn="ctr"/>
              <a:endParaRPr lang="en-US" sz="1100" dirty="0">
                <a:ln w="0"/>
                <a:solidFill>
                  <a:prstClr val="black"/>
                </a:solidFill>
                <a:effectLst>
                  <a:outerShdw blurRad="38100" dist="19050" dir="2700000" algn="tl" rotWithShape="0">
                    <a:prstClr val="black">
                      <a:alpha val="40000"/>
                    </a:prstClr>
                  </a:outerShdw>
                </a:effectLst>
                <a:latin typeface="Georgia Pro Light" panose="02040302050405020303" pitchFamily="18" charset="0"/>
              </a:endParaRPr>
            </a:p>
          </p:txBody>
        </p:sp>
        <p:sp>
          <p:nvSpPr>
            <p:cNvPr id="163" name="TextBox 162">
              <a:extLst>
                <a:ext uri="{FF2B5EF4-FFF2-40B4-BE49-F238E27FC236}">
                  <a16:creationId xmlns:a16="http://schemas.microsoft.com/office/drawing/2014/main" id="{B8CB01E0-94E7-BDF3-5BFF-93A29D821C08}"/>
                </a:ext>
              </a:extLst>
            </p:cNvPr>
            <p:cNvSpPr txBox="1"/>
            <p:nvPr/>
          </p:nvSpPr>
          <p:spPr>
            <a:xfrm>
              <a:off x="471583" y="5497363"/>
              <a:ext cx="2462405" cy="423192"/>
            </a:xfrm>
            <a:prstGeom prst="rect">
              <a:avLst/>
            </a:prstGeom>
            <a:noFill/>
          </p:spPr>
          <p:txBody>
            <a:bodyPr wrap="square" rtlCol="0">
              <a:spAutoFit/>
            </a:bodyPr>
            <a:lstStyle/>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INTRODUCTION</a:t>
              </a:r>
              <a:r>
                <a:rPr lang="en-US" sz="1200" dirty="0">
                  <a:ln w="0"/>
                  <a:solidFill>
                    <a:prstClr val="black"/>
                  </a:solidFill>
                  <a:effectLst>
                    <a:outerShdw blurRad="38100" dist="19050" dir="2700000" algn="tl" rotWithShape="0">
                      <a:prstClr val="black">
                        <a:alpha val="40000"/>
                      </a:prstClr>
                    </a:outerShdw>
                  </a:effectLst>
                  <a:latin typeface="Georgia" panose="02040502050405020303" pitchFamily="18" charset="0"/>
                </a:rPr>
                <a:t> </a:t>
              </a:r>
            </a:p>
          </p:txBody>
        </p:sp>
      </p:grpSp>
      <p:sp>
        <p:nvSpPr>
          <p:cNvPr id="164" name="TextBox 163">
            <a:extLst>
              <a:ext uri="{FF2B5EF4-FFF2-40B4-BE49-F238E27FC236}">
                <a16:creationId xmlns:a16="http://schemas.microsoft.com/office/drawing/2014/main" id="{602279AF-9DC4-FA84-944D-D1F942DC7616}"/>
              </a:ext>
            </a:extLst>
          </p:cNvPr>
          <p:cNvSpPr txBox="1"/>
          <p:nvPr/>
        </p:nvSpPr>
        <p:spPr>
          <a:xfrm>
            <a:off x="7010400" y="3543300"/>
            <a:ext cx="1983037" cy="586447"/>
          </a:xfrm>
          <a:prstGeom prst="rect">
            <a:avLst/>
          </a:prstGeom>
          <a:noFill/>
        </p:spPr>
        <p:txBody>
          <a:bodyPr wrap="square" rtlCol="0">
            <a:spAutoFit/>
          </a:bodyPr>
          <a:lstStyle/>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SYSTEM </a:t>
            </a:r>
          </a:p>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ANALYSIS</a:t>
            </a:r>
          </a:p>
        </p:txBody>
      </p:sp>
      <p:sp>
        <p:nvSpPr>
          <p:cNvPr id="165" name="TextBox 164">
            <a:extLst>
              <a:ext uri="{FF2B5EF4-FFF2-40B4-BE49-F238E27FC236}">
                <a16:creationId xmlns:a16="http://schemas.microsoft.com/office/drawing/2014/main" id="{F9C8BD25-35A8-A2BC-ED71-E70A348BA90A}"/>
              </a:ext>
            </a:extLst>
          </p:cNvPr>
          <p:cNvSpPr txBox="1"/>
          <p:nvPr/>
        </p:nvSpPr>
        <p:spPr>
          <a:xfrm>
            <a:off x="9413084" y="3231433"/>
            <a:ext cx="2103187" cy="830998"/>
          </a:xfrm>
          <a:prstGeom prst="rect">
            <a:avLst/>
          </a:prstGeom>
          <a:noFill/>
        </p:spPr>
        <p:txBody>
          <a:bodyPr wrap="square" rtlCol="0">
            <a:spAutoFit/>
          </a:bodyPr>
          <a:lstStyle/>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TOOLS AND SOFTWARE REQUIREMENTS</a:t>
            </a:r>
          </a:p>
        </p:txBody>
      </p:sp>
      <p:pic>
        <p:nvPicPr>
          <p:cNvPr id="166" name="Graphic 165" descr="Playbook">
            <a:extLst>
              <a:ext uri="{FF2B5EF4-FFF2-40B4-BE49-F238E27FC236}">
                <a16:creationId xmlns:a16="http://schemas.microsoft.com/office/drawing/2014/main" id="{C0B3E935-AFA2-88D7-1415-6C087941F9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86354" y="5886974"/>
            <a:ext cx="342112" cy="342112"/>
          </a:xfrm>
          <a:prstGeom prst="rect">
            <a:avLst/>
          </a:prstGeom>
        </p:spPr>
      </p:pic>
      <p:cxnSp>
        <p:nvCxnSpPr>
          <p:cNvPr id="167" name="Straight Arrow Connector 166">
            <a:extLst>
              <a:ext uri="{FF2B5EF4-FFF2-40B4-BE49-F238E27FC236}">
                <a16:creationId xmlns:a16="http://schemas.microsoft.com/office/drawing/2014/main" id="{873C2BDA-3815-B991-D71E-4CCA9280BCCB}"/>
              </a:ext>
            </a:extLst>
          </p:cNvPr>
          <p:cNvCxnSpPr>
            <a:cxnSpLocks/>
            <a:endCxn id="179" idx="7"/>
          </p:cNvCxnSpPr>
          <p:nvPr/>
        </p:nvCxnSpPr>
        <p:spPr>
          <a:xfrm>
            <a:off x="12779579" y="5051201"/>
            <a:ext cx="423431" cy="418867"/>
          </a:xfrm>
          <a:prstGeom prst="straightConnector1">
            <a:avLst/>
          </a:prstGeom>
          <a:noFill/>
          <a:ln w="63500" cap="flat" cmpd="sng" algn="ctr">
            <a:solidFill>
              <a:srgbClr val="44546A">
                <a:lumMod val="40000"/>
                <a:lumOff val="60000"/>
              </a:srgbClr>
            </a:solidFill>
            <a:prstDash val="solid"/>
            <a:miter lim="800000"/>
            <a:tailEnd type="triangle"/>
          </a:ln>
          <a:effectLst/>
        </p:spPr>
      </p:cxnSp>
      <p:grpSp>
        <p:nvGrpSpPr>
          <p:cNvPr id="168" name="Group 167">
            <a:extLst>
              <a:ext uri="{FF2B5EF4-FFF2-40B4-BE49-F238E27FC236}">
                <a16:creationId xmlns:a16="http://schemas.microsoft.com/office/drawing/2014/main" id="{866C3AAA-B99B-49D2-C2CB-9AF599E2C09E}"/>
              </a:ext>
            </a:extLst>
          </p:cNvPr>
          <p:cNvGrpSpPr/>
          <p:nvPr/>
        </p:nvGrpSpPr>
        <p:grpSpPr>
          <a:xfrm rot="16868752">
            <a:off x="14072700" y="4101064"/>
            <a:ext cx="1104546" cy="1105556"/>
            <a:chOff x="1255522" y="2902227"/>
            <a:chExt cx="1380682" cy="1381945"/>
          </a:xfrm>
        </p:grpSpPr>
        <p:grpSp>
          <p:nvGrpSpPr>
            <p:cNvPr id="169" name="Group 168">
              <a:extLst>
                <a:ext uri="{FF2B5EF4-FFF2-40B4-BE49-F238E27FC236}">
                  <a16:creationId xmlns:a16="http://schemas.microsoft.com/office/drawing/2014/main" id="{0AE1F045-B3AD-B5FB-20F9-D9C5D343A359}"/>
                </a:ext>
              </a:extLst>
            </p:cNvPr>
            <p:cNvGrpSpPr/>
            <p:nvPr/>
          </p:nvGrpSpPr>
          <p:grpSpPr>
            <a:xfrm>
              <a:off x="1255522" y="2902227"/>
              <a:ext cx="1380682" cy="1380676"/>
              <a:chOff x="3815645" y="2652888"/>
              <a:chExt cx="1004711" cy="1004709"/>
            </a:xfrm>
          </p:grpSpPr>
          <p:sp>
            <p:nvSpPr>
              <p:cNvPr id="171" name="Oval 170">
                <a:extLst>
                  <a:ext uri="{FF2B5EF4-FFF2-40B4-BE49-F238E27FC236}">
                    <a16:creationId xmlns:a16="http://schemas.microsoft.com/office/drawing/2014/main" id="{F028392F-5B0A-2973-0F71-CA77D846CB72}"/>
                  </a:ext>
                </a:extLst>
              </p:cNvPr>
              <p:cNvSpPr/>
              <p:nvPr/>
            </p:nvSpPr>
            <p:spPr>
              <a:xfrm>
                <a:off x="3897848" y="2735090"/>
                <a:ext cx="840305" cy="840304"/>
              </a:xfrm>
              <a:prstGeom prst="ellipse">
                <a:avLst/>
              </a:prstGeom>
              <a:gradFill flip="none" rotWithShape="1">
                <a:gsLst>
                  <a:gs pos="0">
                    <a:srgbClr val="BE1299">
                      <a:shade val="30000"/>
                      <a:satMod val="115000"/>
                    </a:srgbClr>
                  </a:gs>
                  <a:gs pos="50000">
                    <a:srgbClr val="BE1299">
                      <a:shade val="67500"/>
                      <a:satMod val="115000"/>
                    </a:srgbClr>
                  </a:gs>
                  <a:gs pos="100000">
                    <a:srgbClr val="BE1299">
                      <a:shade val="100000"/>
                      <a:satMod val="115000"/>
                    </a:srgbClr>
                  </a:gs>
                </a:gsLst>
                <a:lin ang="54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72" name="Oval 171">
                <a:extLst>
                  <a:ext uri="{FF2B5EF4-FFF2-40B4-BE49-F238E27FC236}">
                    <a16:creationId xmlns:a16="http://schemas.microsoft.com/office/drawing/2014/main" id="{9491FC1B-E96C-02E3-01B5-7EC2477BEC03}"/>
                  </a:ext>
                </a:extLst>
              </p:cNvPr>
              <p:cNvSpPr/>
              <p:nvPr/>
            </p:nvSpPr>
            <p:spPr>
              <a:xfrm>
                <a:off x="3815645" y="2652888"/>
                <a:ext cx="1004711" cy="1004709"/>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sp>
          <p:nvSpPr>
            <p:cNvPr id="170" name="Arc 169">
              <a:extLst>
                <a:ext uri="{FF2B5EF4-FFF2-40B4-BE49-F238E27FC236}">
                  <a16:creationId xmlns:a16="http://schemas.microsoft.com/office/drawing/2014/main" id="{CCFCD3B7-A5A1-D356-90E2-EBF96F674C88}"/>
                </a:ext>
              </a:extLst>
            </p:cNvPr>
            <p:cNvSpPr/>
            <p:nvPr/>
          </p:nvSpPr>
          <p:spPr>
            <a:xfrm rot="6060992">
              <a:off x="1335023" y="2988326"/>
              <a:ext cx="1345064" cy="1246627"/>
            </a:xfrm>
            <a:prstGeom prst="arc">
              <a:avLst>
                <a:gd name="adj1" fmla="val 15292452"/>
                <a:gd name="adj2" fmla="val 20250573"/>
              </a:avLst>
            </a:prstGeom>
            <a:noFill/>
            <a:ln w="38100" cap="flat" cmpd="sng" algn="ctr">
              <a:solidFill>
                <a:srgbClr val="7030A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grpSp>
        <p:nvGrpSpPr>
          <p:cNvPr id="173" name="Group 172">
            <a:extLst>
              <a:ext uri="{FF2B5EF4-FFF2-40B4-BE49-F238E27FC236}">
                <a16:creationId xmlns:a16="http://schemas.microsoft.com/office/drawing/2014/main" id="{6303F52A-85DC-1809-6E2C-CBD0D2425963}"/>
              </a:ext>
            </a:extLst>
          </p:cNvPr>
          <p:cNvGrpSpPr/>
          <p:nvPr/>
        </p:nvGrpSpPr>
        <p:grpSpPr>
          <a:xfrm rot="668752">
            <a:off x="12991557" y="5036615"/>
            <a:ext cx="1181746" cy="1455136"/>
            <a:chOff x="1254891" y="2464623"/>
            <a:chExt cx="1477183" cy="1818920"/>
          </a:xfrm>
        </p:grpSpPr>
        <p:grpSp>
          <p:nvGrpSpPr>
            <p:cNvPr id="174" name="Group 173">
              <a:extLst>
                <a:ext uri="{FF2B5EF4-FFF2-40B4-BE49-F238E27FC236}">
                  <a16:creationId xmlns:a16="http://schemas.microsoft.com/office/drawing/2014/main" id="{68CB93C6-993A-51CF-3DD4-B880EB7B425B}"/>
                </a:ext>
              </a:extLst>
            </p:cNvPr>
            <p:cNvGrpSpPr/>
            <p:nvPr/>
          </p:nvGrpSpPr>
          <p:grpSpPr>
            <a:xfrm rot="16200000">
              <a:off x="1255524" y="2902228"/>
              <a:ext cx="1380682" cy="1381947"/>
              <a:chOff x="1255521" y="2902228"/>
              <a:chExt cx="1380682" cy="1381947"/>
            </a:xfrm>
          </p:grpSpPr>
          <p:grpSp>
            <p:nvGrpSpPr>
              <p:cNvPr id="176" name="Group 175">
                <a:extLst>
                  <a:ext uri="{FF2B5EF4-FFF2-40B4-BE49-F238E27FC236}">
                    <a16:creationId xmlns:a16="http://schemas.microsoft.com/office/drawing/2014/main" id="{82487193-F5D5-EE75-ECA6-F4DB40933080}"/>
                  </a:ext>
                </a:extLst>
              </p:cNvPr>
              <p:cNvGrpSpPr/>
              <p:nvPr/>
            </p:nvGrpSpPr>
            <p:grpSpPr>
              <a:xfrm>
                <a:off x="1255522" y="2902227"/>
                <a:ext cx="1380682" cy="1380676"/>
                <a:chOff x="3815645" y="2652888"/>
                <a:chExt cx="1004711" cy="1004709"/>
              </a:xfrm>
            </p:grpSpPr>
            <p:sp>
              <p:nvSpPr>
                <p:cNvPr id="178" name="Oval 177">
                  <a:extLst>
                    <a:ext uri="{FF2B5EF4-FFF2-40B4-BE49-F238E27FC236}">
                      <a16:creationId xmlns:a16="http://schemas.microsoft.com/office/drawing/2014/main" id="{A2410909-167B-AA36-D144-36A71E150392}"/>
                    </a:ext>
                  </a:extLst>
                </p:cNvPr>
                <p:cNvSpPr/>
                <p:nvPr/>
              </p:nvSpPr>
              <p:spPr>
                <a:xfrm>
                  <a:off x="3897848" y="2735090"/>
                  <a:ext cx="840305" cy="840304"/>
                </a:xfrm>
                <a:prstGeom prst="ellipse">
                  <a:avLst/>
                </a:prstGeom>
                <a:gradFill flip="none" rotWithShape="1">
                  <a:gsLst>
                    <a:gs pos="0">
                      <a:srgbClr val="7CEB99">
                        <a:shade val="30000"/>
                        <a:satMod val="115000"/>
                      </a:srgbClr>
                    </a:gs>
                    <a:gs pos="50000">
                      <a:srgbClr val="7CEB99">
                        <a:shade val="67500"/>
                        <a:satMod val="115000"/>
                      </a:srgbClr>
                    </a:gs>
                    <a:gs pos="100000">
                      <a:srgbClr val="7CEB99">
                        <a:shade val="100000"/>
                        <a:satMod val="115000"/>
                      </a:srgbClr>
                    </a:gs>
                  </a:gsLst>
                  <a:lin ang="81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E80BFA19-BA5D-FC55-D964-2B36409A5E87}"/>
                    </a:ext>
                  </a:extLst>
                </p:cNvPr>
                <p:cNvSpPr/>
                <p:nvPr/>
              </p:nvSpPr>
              <p:spPr>
                <a:xfrm>
                  <a:off x="3815645" y="2652888"/>
                  <a:ext cx="1004711" cy="1004709"/>
                </a:xfrm>
                <a:prstGeom prst="ellipse">
                  <a:avLst/>
                </a:prstGeom>
                <a:noFill/>
                <a:ln w="22225" cap="flat" cmpd="sng" algn="ctr">
                  <a:solidFill>
                    <a:sysClr val="window" lastClr="FFFFFF">
                      <a:lumMod val="65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sp>
            <p:nvSpPr>
              <p:cNvPr id="177" name="Arc 176">
                <a:extLst>
                  <a:ext uri="{FF2B5EF4-FFF2-40B4-BE49-F238E27FC236}">
                    <a16:creationId xmlns:a16="http://schemas.microsoft.com/office/drawing/2014/main" id="{B5698C97-02D5-8479-5DA0-D8423733E0B1}"/>
                  </a:ext>
                </a:extLst>
              </p:cNvPr>
              <p:cNvSpPr/>
              <p:nvPr/>
            </p:nvSpPr>
            <p:spPr>
              <a:xfrm rot="6060992">
                <a:off x="1335024" y="2988327"/>
                <a:ext cx="1345064" cy="1246627"/>
              </a:xfrm>
              <a:prstGeom prst="arc">
                <a:avLst>
                  <a:gd name="adj1" fmla="val 15292452"/>
                  <a:gd name="adj2" fmla="val 20250573"/>
                </a:avLst>
              </a:prstGeom>
              <a:noFill/>
              <a:ln w="38100" cap="flat" cmpd="sng" algn="ctr">
                <a:solidFill>
                  <a:srgbClr val="7CEB9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grpSp>
        <p:cxnSp>
          <p:nvCxnSpPr>
            <p:cNvPr id="175" name="Straight Arrow Connector 174">
              <a:extLst>
                <a:ext uri="{FF2B5EF4-FFF2-40B4-BE49-F238E27FC236}">
                  <a16:creationId xmlns:a16="http://schemas.microsoft.com/office/drawing/2014/main" id="{E55892AE-75F1-D4E1-9793-F7D70B120AA0}"/>
                </a:ext>
              </a:extLst>
            </p:cNvPr>
            <p:cNvCxnSpPr>
              <a:cxnSpLocks/>
            </p:cNvCxnSpPr>
            <p:nvPr/>
          </p:nvCxnSpPr>
          <p:spPr>
            <a:xfrm rot="20931248" flipV="1">
              <a:off x="2292276" y="2464623"/>
              <a:ext cx="439798" cy="526399"/>
            </a:xfrm>
            <a:prstGeom prst="straightConnector1">
              <a:avLst/>
            </a:prstGeom>
            <a:noFill/>
            <a:ln w="63500" cap="flat" cmpd="sng" algn="ctr">
              <a:solidFill>
                <a:srgbClr val="7CEB99"/>
              </a:solidFill>
              <a:prstDash val="solid"/>
              <a:miter lim="800000"/>
              <a:tailEnd type="triangle"/>
            </a:ln>
            <a:effectLst/>
          </p:spPr>
        </p:cxnSp>
      </p:grpSp>
      <p:sp>
        <p:nvSpPr>
          <p:cNvPr id="180" name="TextBox 179">
            <a:extLst>
              <a:ext uri="{FF2B5EF4-FFF2-40B4-BE49-F238E27FC236}">
                <a16:creationId xmlns:a16="http://schemas.microsoft.com/office/drawing/2014/main" id="{C274A01B-ED74-01FA-32B7-B92432BAF10E}"/>
              </a:ext>
            </a:extLst>
          </p:cNvPr>
          <p:cNvSpPr txBox="1"/>
          <p:nvPr/>
        </p:nvSpPr>
        <p:spPr>
          <a:xfrm>
            <a:off x="12953173" y="6805008"/>
            <a:ext cx="1374450" cy="584775"/>
          </a:xfrm>
          <a:prstGeom prst="rect">
            <a:avLst/>
          </a:prstGeom>
          <a:noFill/>
        </p:spPr>
        <p:txBody>
          <a:bodyPr wrap="square" rtlCol="0">
            <a:spAutoFit/>
          </a:bodyPr>
          <a:lstStyle/>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CODE AND OUTPUT</a:t>
            </a:r>
          </a:p>
        </p:txBody>
      </p:sp>
      <p:sp>
        <p:nvSpPr>
          <p:cNvPr id="181" name="TextBox 180">
            <a:extLst>
              <a:ext uri="{FF2B5EF4-FFF2-40B4-BE49-F238E27FC236}">
                <a16:creationId xmlns:a16="http://schemas.microsoft.com/office/drawing/2014/main" id="{4C508BCE-A518-C55C-9063-0C3136C16759}"/>
              </a:ext>
            </a:extLst>
          </p:cNvPr>
          <p:cNvSpPr txBox="1"/>
          <p:nvPr/>
        </p:nvSpPr>
        <p:spPr>
          <a:xfrm>
            <a:off x="10445417" y="6726031"/>
            <a:ext cx="2142438" cy="338554"/>
          </a:xfrm>
          <a:prstGeom prst="rect">
            <a:avLst/>
          </a:prstGeom>
          <a:noFill/>
        </p:spPr>
        <p:txBody>
          <a:bodyPr wrap="square" rtlCol="0">
            <a:spAutoFit/>
          </a:bodyPr>
          <a:lstStyle/>
          <a:p>
            <a:pPr algn="ctr"/>
            <a:r>
              <a:rPr lang="en-US" sz="1600" dirty="0">
                <a:ln w="0"/>
                <a:solidFill>
                  <a:prstClr val="black"/>
                </a:solidFill>
                <a:effectLst>
                  <a:outerShdw blurRad="38100" dist="19050" dir="2700000" algn="tl" rotWithShape="0">
                    <a:prstClr val="black">
                      <a:alpha val="40000"/>
                    </a:prstClr>
                  </a:outerShdw>
                </a:effectLst>
                <a:latin typeface="Georgia" panose="02040502050405020303" pitchFamily="18" charset="0"/>
              </a:rPr>
              <a:t>IMPLEMENTATION</a:t>
            </a:r>
          </a:p>
        </p:txBody>
      </p:sp>
      <p:sp>
        <p:nvSpPr>
          <p:cNvPr id="182" name="Oval 181">
            <a:extLst>
              <a:ext uri="{FF2B5EF4-FFF2-40B4-BE49-F238E27FC236}">
                <a16:creationId xmlns:a16="http://schemas.microsoft.com/office/drawing/2014/main" id="{F2BBF1D7-FEBF-3C4D-0610-ECC79DC5148F}"/>
              </a:ext>
            </a:extLst>
          </p:cNvPr>
          <p:cNvSpPr/>
          <p:nvPr/>
        </p:nvSpPr>
        <p:spPr>
          <a:xfrm rot="645655">
            <a:off x="6293748" y="5409768"/>
            <a:ext cx="923803" cy="923800"/>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81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pic>
        <p:nvPicPr>
          <p:cNvPr id="183" name="Picture 182">
            <a:extLst>
              <a:ext uri="{FF2B5EF4-FFF2-40B4-BE49-F238E27FC236}">
                <a16:creationId xmlns:a16="http://schemas.microsoft.com/office/drawing/2014/main" id="{2ADD4892-138C-58A4-E2B1-A3706F11E087}"/>
              </a:ext>
            </a:extLst>
          </p:cNvPr>
          <p:cNvPicPr>
            <a:picLocks noChangeAspect="1"/>
          </p:cNvPicPr>
          <p:nvPr/>
        </p:nvPicPr>
        <p:blipFill>
          <a:blip r:embed="rId3"/>
          <a:stretch>
            <a:fillRect/>
          </a:stretch>
        </p:blipFill>
        <p:spPr>
          <a:xfrm>
            <a:off x="4358335" y="5688795"/>
            <a:ext cx="540000" cy="540000"/>
          </a:xfrm>
          <a:prstGeom prst="rect">
            <a:avLst/>
          </a:prstGeom>
        </p:spPr>
      </p:pic>
      <p:pic>
        <p:nvPicPr>
          <p:cNvPr id="184" name="Picture 183">
            <a:extLst>
              <a:ext uri="{FF2B5EF4-FFF2-40B4-BE49-F238E27FC236}">
                <a16:creationId xmlns:a16="http://schemas.microsoft.com/office/drawing/2014/main" id="{4D32DFD7-4556-96BA-92BB-F043AF80355F}"/>
              </a:ext>
            </a:extLst>
          </p:cNvPr>
          <p:cNvPicPr>
            <a:picLocks noChangeAspect="1"/>
          </p:cNvPicPr>
          <p:nvPr/>
        </p:nvPicPr>
        <p:blipFill>
          <a:blip r:embed="rId4"/>
          <a:stretch>
            <a:fillRect/>
          </a:stretch>
        </p:blipFill>
        <p:spPr>
          <a:xfrm>
            <a:off x="5485614" y="4442809"/>
            <a:ext cx="540000" cy="540000"/>
          </a:xfrm>
          <a:prstGeom prst="rect">
            <a:avLst/>
          </a:prstGeom>
        </p:spPr>
      </p:pic>
      <p:pic>
        <p:nvPicPr>
          <p:cNvPr id="185" name="Picture 184">
            <a:extLst>
              <a:ext uri="{FF2B5EF4-FFF2-40B4-BE49-F238E27FC236}">
                <a16:creationId xmlns:a16="http://schemas.microsoft.com/office/drawing/2014/main" id="{235D9ABD-B372-0658-3FE8-A2BB2D7C1C2C}"/>
              </a:ext>
            </a:extLst>
          </p:cNvPr>
          <p:cNvPicPr>
            <a:picLocks noChangeAspect="1"/>
          </p:cNvPicPr>
          <p:nvPr/>
        </p:nvPicPr>
        <p:blipFill>
          <a:blip r:embed="rId5"/>
          <a:stretch>
            <a:fillRect/>
          </a:stretch>
        </p:blipFill>
        <p:spPr>
          <a:xfrm>
            <a:off x="7725643" y="4549064"/>
            <a:ext cx="540000" cy="540000"/>
          </a:xfrm>
          <a:prstGeom prst="rect">
            <a:avLst/>
          </a:prstGeom>
        </p:spPr>
      </p:pic>
      <p:sp>
        <p:nvSpPr>
          <p:cNvPr id="186" name="Oval 185">
            <a:extLst>
              <a:ext uri="{FF2B5EF4-FFF2-40B4-BE49-F238E27FC236}">
                <a16:creationId xmlns:a16="http://schemas.microsoft.com/office/drawing/2014/main" id="{16C248D4-854C-9373-538A-8A106DCB8665}"/>
              </a:ext>
            </a:extLst>
          </p:cNvPr>
          <p:cNvSpPr/>
          <p:nvPr/>
        </p:nvSpPr>
        <p:spPr>
          <a:xfrm rot="645655">
            <a:off x="8642945" y="5406914"/>
            <a:ext cx="923804" cy="923806"/>
          </a:xfrm>
          <a:prstGeom prst="ellipse">
            <a:avLst/>
          </a:prstGeom>
          <a:gradFill flip="none" rotWithShape="1">
            <a:gsLst>
              <a:gs pos="0">
                <a:srgbClr val="F25E3D">
                  <a:shade val="30000"/>
                  <a:satMod val="115000"/>
                </a:srgbClr>
              </a:gs>
              <a:gs pos="50000">
                <a:srgbClr val="F25E3D">
                  <a:shade val="67500"/>
                  <a:satMod val="115000"/>
                </a:srgbClr>
              </a:gs>
              <a:gs pos="100000">
                <a:srgbClr val="F25E3D">
                  <a:shade val="100000"/>
                  <a:satMod val="115000"/>
                </a:srgbClr>
              </a:gs>
            </a:gsLst>
            <a:path path="circle">
              <a:fillToRect l="100000" t="100000"/>
            </a:path>
            <a:tileRect r="-100000" b="-100000"/>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pic>
        <p:nvPicPr>
          <p:cNvPr id="187" name="Picture 186">
            <a:extLst>
              <a:ext uri="{FF2B5EF4-FFF2-40B4-BE49-F238E27FC236}">
                <a16:creationId xmlns:a16="http://schemas.microsoft.com/office/drawing/2014/main" id="{F7731E20-7418-0451-CA55-50BBB13DFFCB}"/>
              </a:ext>
            </a:extLst>
          </p:cNvPr>
          <p:cNvPicPr>
            <a:picLocks noChangeAspect="1"/>
          </p:cNvPicPr>
          <p:nvPr/>
        </p:nvPicPr>
        <p:blipFill>
          <a:blip r:embed="rId6"/>
          <a:stretch>
            <a:fillRect/>
          </a:stretch>
        </p:blipFill>
        <p:spPr>
          <a:xfrm>
            <a:off x="10061482" y="4416916"/>
            <a:ext cx="540000" cy="540000"/>
          </a:xfrm>
          <a:prstGeom prst="rect">
            <a:avLst/>
          </a:prstGeom>
        </p:spPr>
      </p:pic>
      <p:pic>
        <p:nvPicPr>
          <p:cNvPr id="188" name="Picture 187">
            <a:extLst>
              <a:ext uri="{FF2B5EF4-FFF2-40B4-BE49-F238E27FC236}">
                <a16:creationId xmlns:a16="http://schemas.microsoft.com/office/drawing/2014/main" id="{91525D00-7522-F258-6F67-1088CCBDE4A1}"/>
              </a:ext>
            </a:extLst>
          </p:cNvPr>
          <p:cNvPicPr>
            <a:picLocks noChangeAspect="1"/>
          </p:cNvPicPr>
          <p:nvPr/>
        </p:nvPicPr>
        <p:blipFill>
          <a:blip r:embed="rId7"/>
          <a:stretch>
            <a:fillRect/>
          </a:stretch>
        </p:blipFill>
        <p:spPr>
          <a:xfrm>
            <a:off x="11157845" y="5590856"/>
            <a:ext cx="540000" cy="540000"/>
          </a:xfrm>
          <a:prstGeom prst="rect">
            <a:avLst/>
          </a:prstGeom>
        </p:spPr>
      </p:pic>
      <p:pic>
        <p:nvPicPr>
          <p:cNvPr id="189" name="Picture 188">
            <a:extLst>
              <a:ext uri="{FF2B5EF4-FFF2-40B4-BE49-F238E27FC236}">
                <a16:creationId xmlns:a16="http://schemas.microsoft.com/office/drawing/2014/main" id="{E5B90511-8AD4-E58F-7FF9-5413D52BA6D2}"/>
              </a:ext>
            </a:extLst>
          </p:cNvPr>
          <p:cNvPicPr>
            <a:picLocks noChangeAspect="1"/>
          </p:cNvPicPr>
          <p:nvPr/>
        </p:nvPicPr>
        <p:blipFill>
          <a:blip r:embed="rId8"/>
          <a:stretch>
            <a:fillRect/>
          </a:stretch>
        </p:blipFill>
        <p:spPr>
          <a:xfrm>
            <a:off x="12143151" y="4407821"/>
            <a:ext cx="540000" cy="540000"/>
          </a:xfrm>
          <a:prstGeom prst="rect">
            <a:avLst/>
          </a:prstGeom>
        </p:spPr>
      </p:pic>
      <p:sp>
        <p:nvSpPr>
          <p:cNvPr id="190" name="Arc 189">
            <a:extLst>
              <a:ext uri="{FF2B5EF4-FFF2-40B4-BE49-F238E27FC236}">
                <a16:creationId xmlns:a16="http://schemas.microsoft.com/office/drawing/2014/main" id="{D23210A8-B7C6-DC52-A3E4-0FD1D478CA5B}"/>
              </a:ext>
            </a:extLst>
          </p:cNvPr>
          <p:cNvSpPr/>
          <p:nvPr/>
        </p:nvSpPr>
        <p:spPr>
          <a:xfrm rot="1329744">
            <a:off x="14110963" y="4109619"/>
            <a:ext cx="1076051" cy="997302"/>
          </a:xfrm>
          <a:prstGeom prst="arc">
            <a:avLst>
              <a:gd name="adj1" fmla="val 15292452"/>
              <a:gd name="adj2" fmla="val 20250573"/>
            </a:avLst>
          </a:prstGeom>
          <a:noFill/>
          <a:ln w="38100" cap="flat" cmpd="sng" algn="ctr">
            <a:solidFill>
              <a:srgbClr val="BE129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pic>
        <p:nvPicPr>
          <p:cNvPr id="191" name="Picture 190">
            <a:extLst>
              <a:ext uri="{FF2B5EF4-FFF2-40B4-BE49-F238E27FC236}">
                <a16:creationId xmlns:a16="http://schemas.microsoft.com/office/drawing/2014/main" id="{3F7AD893-6241-80A6-CF2E-646C2C530338}"/>
              </a:ext>
            </a:extLst>
          </p:cNvPr>
          <p:cNvPicPr>
            <a:picLocks noChangeAspect="1"/>
          </p:cNvPicPr>
          <p:nvPr/>
        </p:nvPicPr>
        <p:blipFill>
          <a:blip r:embed="rId9"/>
          <a:stretch>
            <a:fillRect/>
          </a:stretch>
        </p:blipFill>
        <p:spPr>
          <a:xfrm>
            <a:off x="13240669" y="5699596"/>
            <a:ext cx="540000" cy="540000"/>
          </a:xfrm>
          <a:prstGeom prst="rect">
            <a:avLst/>
          </a:prstGeom>
        </p:spPr>
      </p:pic>
      <p:pic>
        <p:nvPicPr>
          <p:cNvPr id="192" name="Picture 191">
            <a:extLst>
              <a:ext uri="{FF2B5EF4-FFF2-40B4-BE49-F238E27FC236}">
                <a16:creationId xmlns:a16="http://schemas.microsoft.com/office/drawing/2014/main" id="{C5DA40F8-4123-7589-3FB8-C45921BDCCAB}"/>
              </a:ext>
            </a:extLst>
          </p:cNvPr>
          <p:cNvPicPr>
            <a:picLocks noChangeAspect="1"/>
          </p:cNvPicPr>
          <p:nvPr/>
        </p:nvPicPr>
        <p:blipFill>
          <a:blip r:embed="rId9"/>
          <a:stretch>
            <a:fillRect/>
          </a:stretch>
        </p:blipFill>
        <p:spPr>
          <a:xfrm>
            <a:off x="14378987" y="4424631"/>
            <a:ext cx="540000" cy="540000"/>
          </a:xfrm>
          <a:prstGeom prst="rect">
            <a:avLst/>
          </a:prstGeom>
        </p:spPr>
      </p:pic>
      <p:pic>
        <p:nvPicPr>
          <p:cNvPr id="193" name="Picture 192">
            <a:extLst>
              <a:ext uri="{FF2B5EF4-FFF2-40B4-BE49-F238E27FC236}">
                <a16:creationId xmlns:a16="http://schemas.microsoft.com/office/drawing/2014/main" id="{6EE0F017-1E13-B73A-CB22-FC763BCB64A0}"/>
              </a:ext>
            </a:extLst>
          </p:cNvPr>
          <p:cNvPicPr>
            <a:picLocks noChangeAspect="1"/>
          </p:cNvPicPr>
          <p:nvPr/>
        </p:nvPicPr>
        <p:blipFill>
          <a:blip r:embed="rId10"/>
          <a:stretch>
            <a:fillRect/>
          </a:stretch>
        </p:blipFill>
        <p:spPr>
          <a:xfrm flipH="1">
            <a:off x="6507731" y="5655363"/>
            <a:ext cx="495835" cy="495835"/>
          </a:xfrm>
          <a:prstGeom prst="rect">
            <a:avLst/>
          </a:prstGeom>
        </p:spPr>
      </p:pic>
      <p:pic>
        <p:nvPicPr>
          <p:cNvPr id="194" name="Picture 193">
            <a:extLst>
              <a:ext uri="{FF2B5EF4-FFF2-40B4-BE49-F238E27FC236}">
                <a16:creationId xmlns:a16="http://schemas.microsoft.com/office/drawing/2014/main" id="{4E8E4FBE-E98A-D078-B039-5B9C837DC1B1}"/>
              </a:ext>
            </a:extLst>
          </p:cNvPr>
          <p:cNvPicPr>
            <a:picLocks noChangeAspect="1"/>
          </p:cNvPicPr>
          <p:nvPr/>
        </p:nvPicPr>
        <p:blipFill>
          <a:blip r:embed="rId11"/>
          <a:stretch>
            <a:fillRect/>
          </a:stretch>
        </p:blipFill>
        <p:spPr>
          <a:xfrm>
            <a:off x="8841076" y="5582330"/>
            <a:ext cx="522773" cy="522773"/>
          </a:xfrm>
          <a:prstGeom prst="rect">
            <a:avLst/>
          </a:prstGeom>
        </p:spPr>
      </p:pic>
      <p:sp>
        <p:nvSpPr>
          <p:cNvPr id="196" name="TextBox 195">
            <a:extLst>
              <a:ext uri="{FF2B5EF4-FFF2-40B4-BE49-F238E27FC236}">
                <a16:creationId xmlns:a16="http://schemas.microsoft.com/office/drawing/2014/main" id="{9FA4454D-16E5-99C9-4FA6-4720B0FA76D1}"/>
              </a:ext>
            </a:extLst>
          </p:cNvPr>
          <p:cNvSpPr txBox="1"/>
          <p:nvPr/>
        </p:nvSpPr>
        <p:spPr>
          <a:xfrm>
            <a:off x="14159282" y="3483232"/>
            <a:ext cx="3599968" cy="923330"/>
          </a:xfrm>
          <a:prstGeom prst="rect">
            <a:avLst/>
          </a:prstGeom>
          <a:noFill/>
        </p:spPr>
        <p:txBody>
          <a:bodyPr wrap="square">
            <a:spAutoFit/>
          </a:bodyPr>
          <a:lstStyle/>
          <a:p>
            <a:pPr lvl="0" algn="ctr"/>
            <a:r>
              <a:rPr lang="en-US" sz="1800" dirty="0">
                <a:ln w="0"/>
                <a:effectLst>
                  <a:outerShdw blurRad="38100" dist="19050" dir="2700000" algn="tl" rotWithShape="0">
                    <a:schemeClr val="dk1">
                      <a:alpha val="40000"/>
                    </a:schemeClr>
                  </a:outerShdw>
                </a:effectLst>
                <a:latin typeface="Georgia" panose="02040502050405020303" pitchFamily="18" charset="0"/>
              </a:rPr>
              <a:t>CONCLUSION </a:t>
            </a:r>
          </a:p>
          <a:p>
            <a:pPr lvl="0" algn="ctr"/>
            <a:r>
              <a:rPr lang="en-US" sz="1800" dirty="0">
                <a:ln w="0"/>
                <a:effectLst>
                  <a:outerShdw blurRad="38100" dist="19050" dir="2700000" algn="tl" rotWithShape="0">
                    <a:schemeClr val="dk1">
                      <a:alpha val="40000"/>
                    </a:schemeClr>
                  </a:outerShdw>
                </a:effectLst>
                <a:latin typeface="Georgia" panose="02040502050405020303" pitchFamily="18" charset="0"/>
              </a:rPr>
              <a:t>AND</a:t>
            </a:r>
          </a:p>
          <a:p>
            <a:pPr lvl="0" algn="ctr"/>
            <a:r>
              <a:rPr lang="en-US" sz="1800" dirty="0">
                <a:ln w="0"/>
                <a:effectLst>
                  <a:outerShdw blurRad="38100" dist="19050" dir="2700000" algn="tl" rotWithShape="0">
                    <a:schemeClr val="dk1">
                      <a:alpha val="40000"/>
                    </a:schemeClr>
                  </a:outerShdw>
                </a:effectLst>
                <a:latin typeface="Georgia" panose="02040502050405020303" pitchFamily="18" charset="0"/>
              </a:rPr>
              <a:t>REFERENCES</a:t>
            </a:r>
          </a:p>
        </p:txBody>
      </p:sp>
      <p:sp>
        <p:nvSpPr>
          <p:cNvPr id="198" name="TextBox 197">
            <a:extLst>
              <a:ext uri="{FF2B5EF4-FFF2-40B4-BE49-F238E27FC236}">
                <a16:creationId xmlns:a16="http://schemas.microsoft.com/office/drawing/2014/main" id="{27CC38E3-19DC-E8BF-8D9C-36E8BD60BB05}"/>
              </a:ext>
            </a:extLst>
          </p:cNvPr>
          <p:cNvSpPr txBox="1"/>
          <p:nvPr/>
        </p:nvSpPr>
        <p:spPr>
          <a:xfrm>
            <a:off x="5348812" y="1158954"/>
            <a:ext cx="8359812" cy="861774"/>
          </a:xfrm>
          <a:prstGeom prst="rect">
            <a:avLst/>
          </a:prstGeom>
          <a:noFill/>
        </p:spPr>
        <p:txBody>
          <a:bodyPr wrap="square">
            <a:spAutoFit/>
          </a:bodyPr>
          <a:lstStyle/>
          <a:p>
            <a:pPr algn="ctr"/>
            <a:r>
              <a:rPr lang="en-US" sz="5000" dirty="0">
                <a:ln w="0"/>
                <a:effectLst>
                  <a:outerShdw blurRad="38100" dist="19050" dir="2700000" algn="tl" rotWithShape="0">
                    <a:schemeClr val="dk1">
                      <a:alpha val="40000"/>
                    </a:schemeClr>
                  </a:outerShdw>
                </a:effectLst>
                <a:latin typeface="Georgia" panose="02040502050405020303" pitchFamily="18" charset="0"/>
              </a:rPr>
              <a:t>INDEX</a:t>
            </a:r>
          </a:p>
        </p:txBody>
      </p:sp>
    </p:spTree>
    <p:extLst>
      <p:ext uri="{BB962C8B-B14F-4D97-AF65-F5344CB8AC3E}">
        <p14:creationId xmlns:p14="http://schemas.microsoft.com/office/powerpoint/2010/main" val="2320034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473274" y="2259013"/>
            <a:ext cx="15444498" cy="5539978"/>
          </a:xfrm>
          <a:prstGeom prst="rect">
            <a:avLst/>
          </a:prstGeom>
        </p:spPr>
        <p:txBody>
          <a:bodyPr lIns="0" tIns="0" rIns="0" bIns="0" rtlCol="0" anchor="t">
            <a:spAutoFit/>
          </a:bodyPr>
          <a:lstStyle/>
          <a:p>
            <a:pPr algn="just">
              <a:buSzPct val="100000"/>
            </a:pPr>
            <a:r>
              <a:rPr lang="en-US" sz="3000" dirty="0">
                <a:solidFill>
                  <a:srgbClr val="2A2742"/>
                </a:solidFill>
                <a:latin typeface="Times New Roman" panose="02020603050405020304" pitchFamily="18" charset="0"/>
                <a:ea typeface="Arimo" pitchFamily="34" charset="-122"/>
                <a:cs typeface="Times New Roman" panose="02020603050405020304" pitchFamily="18" charset="0"/>
              </a:rPr>
              <a:t>Our final year project, "Farm-to-Market Supply Chain Platform," proposes a decentralized, blockchain-powered system designed to establish a direct, transparent, and equitable connection between small-scale farmers and end buyers. The platform aims to disrupt traditional, inefficient supply chains by eliminating the numerous intermediaries that currently capture most of the profit. At its core, the system leverages Ethereum smart contracts to automate transactions, enforce transparent pricing, and guarantee instant payments upon delivery verification. It integrates IoT sensors for real-time monitoring of product quality and conditions throughout the logistics process. By creating a trusted, peer-to-peer marketplace, our solution ensures that up to 80% of the final retail price reaches the farmers—a significant increase from the current 25-30%—while providing buyers with verifiable quality and origin data. The platform is architecturally built on a React-based frontend, a Node.js backend, and the Ethereum blockchain, forming a comprehensive technological stack for a modern, fair-trade agricultural ecosystem.</a:t>
            </a:r>
            <a:endParaRPr lang="en-US" sz="3000" dirty="0">
              <a:latin typeface="Times New Roman" panose="02020603050405020304" pitchFamily="18" charset="0"/>
              <a:cs typeface="Times New Roman" panose="02020603050405020304" pitchFamily="18" charset="0"/>
            </a:endParaRPr>
          </a:p>
        </p:txBody>
      </p:sp>
      <p:sp>
        <p:nvSpPr>
          <p:cNvPr id="3" name="TextBox 3"/>
          <p:cNvSpPr txBox="1"/>
          <p:nvPr/>
        </p:nvSpPr>
        <p:spPr>
          <a:xfrm>
            <a:off x="3605503" y="976114"/>
            <a:ext cx="13180039" cy="1152525"/>
          </a:xfrm>
          <a:prstGeom prst="rect">
            <a:avLst/>
          </a:prstGeom>
        </p:spPr>
        <p:txBody>
          <a:bodyPr lIns="0" tIns="0" rIns="0" bIns="0" rtlCol="0" anchor="t">
            <a:spAutoFit/>
          </a:bodyPr>
          <a:lstStyle/>
          <a:p>
            <a:pPr algn="ctr">
              <a:lnSpc>
                <a:spcPts val="8400"/>
              </a:lnSpc>
            </a:pPr>
            <a:r>
              <a:rPr lang="en-US" sz="6000" b="1">
                <a:solidFill>
                  <a:srgbClr val="000000"/>
                </a:solidFill>
                <a:latin typeface="Times New Roman Bold"/>
                <a:ea typeface="Times New Roman Bold"/>
                <a:cs typeface="Times New Roman Bold"/>
                <a:sym typeface="Times New Roman Bold"/>
              </a:rPr>
              <a:t>ABSTRACT</a:t>
            </a:r>
          </a:p>
        </p:txBody>
      </p:sp>
      <p:grpSp>
        <p:nvGrpSpPr>
          <p:cNvPr id="4" name="Group 4"/>
          <p:cNvGrpSpPr/>
          <p:nvPr/>
        </p:nvGrpSpPr>
        <p:grpSpPr>
          <a:xfrm>
            <a:off x="-31071" y="0"/>
            <a:ext cx="1972488" cy="10287000"/>
            <a:chOff x="0" y="0"/>
            <a:chExt cx="2629984" cy="13716000"/>
          </a:xfrm>
        </p:grpSpPr>
        <p:grpSp>
          <p:nvGrpSpPr>
            <p:cNvPr id="5" name="Group 5"/>
            <p:cNvGrpSpPr/>
            <p:nvPr/>
          </p:nvGrpSpPr>
          <p:grpSpPr>
            <a:xfrm>
              <a:off x="876661" y="0"/>
              <a:ext cx="1753322" cy="13716000"/>
              <a:chOff x="0" y="0"/>
              <a:chExt cx="346335" cy="2709333"/>
            </a:xfrm>
          </p:grpSpPr>
          <p:sp>
            <p:nvSpPr>
              <p:cNvPr id="6" name="Freeform 6"/>
              <p:cNvSpPr/>
              <p:nvPr/>
            </p:nvSpPr>
            <p:spPr>
              <a:xfrm>
                <a:off x="0" y="0"/>
                <a:ext cx="346335" cy="2709333"/>
              </a:xfrm>
              <a:custGeom>
                <a:avLst/>
                <a:gdLst/>
                <a:ahLst/>
                <a:cxnLst/>
                <a:rect l="l" t="t" r="r" b="b"/>
                <a:pathLst>
                  <a:path w="346335" h="2709333">
                    <a:moveTo>
                      <a:pt x="0" y="0"/>
                    </a:moveTo>
                    <a:lnTo>
                      <a:pt x="346335" y="0"/>
                    </a:lnTo>
                    <a:lnTo>
                      <a:pt x="346335" y="2709333"/>
                    </a:lnTo>
                    <a:lnTo>
                      <a:pt x="0" y="2709333"/>
                    </a:lnTo>
                    <a:close/>
                  </a:path>
                </a:pathLst>
              </a:custGeom>
              <a:solidFill>
                <a:srgbClr val="9FC3D0"/>
              </a:solidFill>
            </p:spPr>
          </p:sp>
          <p:sp>
            <p:nvSpPr>
              <p:cNvPr id="7" name="TextBox 7"/>
              <p:cNvSpPr txBox="1"/>
              <p:nvPr/>
            </p:nvSpPr>
            <p:spPr>
              <a:xfrm>
                <a:off x="0" y="-47625"/>
                <a:ext cx="346335" cy="275695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0" y="0"/>
              <a:ext cx="1753322" cy="13716000"/>
              <a:chOff x="0" y="0"/>
              <a:chExt cx="346335" cy="2709333"/>
            </a:xfrm>
          </p:grpSpPr>
          <p:sp>
            <p:nvSpPr>
              <p:cNvPr id="9" name="Freeform 9"/>
              <p:cNvSpPr/>
              <p:nvPr/>
            </p:nvSpPr>
            <p:spPr>
              <a:xfrm>
                <a:off x="0" y="0"/>
                <a:ext cx="346335" cy="2709333"/>
              </a:xfrm>
              <a:custGeom>
                <a:avLst/>
                <a:gdLst/>
                <a:ahLst/>
                <a:cxnLst/>
                <a:rect l="l" t="t" r="r" b="b"/>
                <a:pathLst>
                  <a:path w="346335" h="2709333">
                    <a:moveTo>
                      <a:pt x="0" y="0"/>
                    </a:moveTo>
                    <a:lnTo>
                      <a:pt x="346335" y="0"/>
                    </a:lnTo>
                    <a:lnTo>
                      <a:pt x="346335" y="2709333"/>
                    </a:lnTo>
                    <a:lnTo>
                      <a:pt x="0" y="2709333"/>
                    </a:lnTo>
                    <a:close/>
                  </a:path>
                </a:pathLst>
              </a:custGeom>
              <a:solidFill>
                <a:srgbClr val="E9C7C6"/>
              </a:solidFill>
            </p:spPr>
          </p:sp>
          <p:sp>
            <p:nvSpPr>
              <p:cNvPr id="10" name="TextBox 10"/>
              <p:cNvSpPr txBox="1"/>
              <p:nvPr/>
            </p:nvSpPr>
            <p:spPr>
              <a:xfrm>
                <a:off x="0" y="-47625"/>
                <a:ext cx="346335" cy="2756958"/>
              </a:xfrm>
              <a:prstGeom prst="rect">
                <a:avLst/>
              </a:prstGeom>
            </p:spPr>
            <p:txBody>
              <a:bodyPr lIns="50800" tIns="50800" rIns="50800" bIns="50800" rtlCol="0" anchor="ctr"/>
              <a:lstStyle/>
              <a:p>
                <a:pPr algn="ctr">
                  <a:lnSpc>
                    <a:spcPts val="2659"/>
                  </a:lnSpc>
                </a:pPr>
                <a:endParaRPr/>
              </a:p>
            </p:txBody>
          </p:sp>
        </p:grpSp>
      </p:grpSp>
      <p:grpSp>
        <p:nvGrpSpPr>
          <p:cNvPr id="11" name="Group 11"/>
          <p:cNvGrpSpPr/>
          <p:nvPr/>
        </p:nvGrpSpPr>
        <p:grpSpPr>
          <a:xfrm>
            <a:off x="-31071" y="0"/>
            <a:ext cx="2239285" cy="10287000"/>
            <a:chOff x="0" y="0"/>
            <a:chExt cx="2985713" cy="13716000"/>
          </a:xfrm>
        </p:grpSpPr>
        <p:grpSp>
          <p:nvGrpSpPr>
            <p:cNvPr id="12" name="Group 12"/>
            <p:cNvGrpSpPr/>
            <p:nvPr/>
          </p:nvGrpSpPr>
          <p:grpSpPr>
            <a:xfrm>
              <a:off x="1492857" y="0"/>
              <a:ext cx="1492857" cy="13716000"/>
              <a:chOff x="0" y="0"/>
              <a:chExt cx="294885" cy="2709333"/>
            </a:xfrm>
          </p:grpSpPr>
          <p:sp>
            <p:nvSpPr>
              <p:cNvPr id="13" name="Freeform 13"/>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14" name="TextBox 14"/>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746428" y="0"/>
              <a:ext cx="1492857" cy="13716000"/>
              <a:chOff x="0" y="0"/>
              <a:chExt cx="294885" cy="2709333"/>
            </a:xfrm>
          </p:grpSpPr>
          <p:sp>
            <p:nvSpPr>
              <p:cNvPr id="16" name="Freeform 16"/>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17" name="TextBox 17"/>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0" y="0"/>
              <a:ext cx="1492857" cy="13716000"/>
              <a:chOff x="0" y="0"/>
              <a:chExt cx="294885" cy="2709333"/>
            </a:xfrm>
          </p:grpSpPr>
          <p:sp>
            <p:nvSpPr>
              <p:cNvPr id="19" name="Freeform 19"/>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20" name="TextBox 20"/>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22" name="Slide Number Placeholder 21">
            <a:extLst>
              <a:ext uri="{FF2B5EF4-FFF2-40B4-BE49-F238E27FC236}">
                <a16:creationId xmlns:a16="http://schemas.microsoft.com/office/drawing/2014/main" id="{6846EBC3-02D2-A2C1-C73F-24E68A18866E}"/>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686276" y="790575"/>
            <a:ext cx="13180039" cy="1152525"/>
          </a:xfrm>
          <a:prstGeom prst="rect">
            <a:avLst/>
          </a:prstGeom>
        </p:spPr>
        <p:txBody>
          <a:bodyPr lIns="0" tIns="0" rIns="0" bIns="0" rtlCol="0" anchor="t">
            <a:spAutoFit/>
          </a:bodyPr>
          <a:lstStyle/>
          <a:p>
            <a:pPr algn="ctr">
              <a:lnSpc>
                <a:spcPts val="8400"/>
              </a:lnSpc>
            </a:pPr>
            <a:r>
              <a:rPr lang="en-US" sz="6000" b="1">
                <a:solidFill>
                  <a:srgbClr val="000000"/>
                </a:solidFill>
                <a:latin typeface="Times New Roman Bold"/>
                <a:ea typeface="Times New Roman Bold"/>
                <a:cs typeface="Times New Roman Bold"/>
                <a:sym typeface="Times New Roman Bold"/>
              </a:rPr>
              <a:t>INTRODUCTION</a:t>
            </a:r>
          </a:p>
        </p:txBody>
      </p:sp>
      <p:sp>
        <p:nvSpPr>
          <p:cNvPr id="3" name="TextBox 3"/>
          <p:cNvSpPr txBox="1"/>
          <p:nvPr/>
        </p:nvSpPr>
        <p:spPr>
          <a:xfrm>
            <a:off x="2553981" y="2364673"/>
            <a:ext cx="15429220" cy="4847481"/>
          </a:xfrm>
          <a:prstGeom prst="rect">
            <a:avLst/>
          </a:prstGeom>
        </p:spPr>
        <p:txBody>
          <a:bodyPr wrap="square" lIns="0" tIns="0" rIns="0" bIns="0" rtlCol="0" anchor="t">
            <a:spAutoFit/>
          </a:bodyPr>
          <a:lstStyle/>
          <a:p>
            <a:pPr algn="just"/>
            <a:r>
              <a:rPr lang="en-US" sz="3500" dirty="0">
                <a:latin typeface="Times New Roman" panose="02020603050405020304" pitchFamily="18" charset="0"/>
                <a:cs typeface="Times New Roman" panose="02020603050405020304" pitchFamily="18" charset="0"/>
              </a:rPr>
              <a:t>The </a:t>
            </a:r>
            <a:r>
              <a:rPr lang="en-US" sz="3500" b="1" dirty="0">
                <a:latin typeface="Times New Roman" panose="02020603050405020304" pitchFamily="18" charset="0"/>
                <a:cs typeface="Times New Roman" panose="02020603050405020304" pitchFamily="18" charset="0"/>
              </a:rPr>
              <a:t>Farm-to-Market Supply Chain Platform</a:t>
            </a:r>
            <a:r>
              <a:rPr lang="en-US" sz="3500" dirty="0">
                <a:latin typeface="Times New Roman" panose="02020603050405020304" pitchFamily="18" charset="0"/>
                <a:cs typeface="Times New Roman" panose="02020603050405020304" pitchFamily="18" charset="0"/>
              </a:rPr>
              <a:t> is a blockchain-based agricultural marketplace designed to connect farmers directly with buyers through a secure, transparent, and efficient digital system. This project helps overcome common problems in the traditional agricultural supply chain, such as lack of transparency, involvement of middlemen, and difficulty in tracking products from farm to customer. By using blockchain technology, the platform records important activities like product listing, order processing, payment updates, and delivery tracking in a tamper-proof manner. The system improves trust, ensures traceability, and supports a smooth farm-to-consumer supply chain.</a:t>
            </a:r>
            <a:endParaRPr lang="en-US" sz="35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grpSp>
        <p:nvGrpSpPr>
          <p:cNvPr id="4" name="Group 4"/>
          <p:cNvGrpSpPr/>
          <p:nvPr/>
        </p:nvGrpSpPr>
        <p:grpSpPr>
          <a:xfrm>
            <a:off x="-31071" y="0"/>
            <a:ext cx="2239285" cy="10287000"/>
            <a:chOff x="0" y="0"/>
            <a:chExt cx="2985713" cy="13716000"/>
          </a:xfrm>
        </p:grpSpPr>
        <p:grpSp>
          <p:nvGrpSpPr>
            <p:cNvPr id="5" name="Group 5"/>
            <p:cNvGrpSpPr/>
            <p:nvPr/>
          </p:nvGrpSpPr>
          <p:grpSpPr>
            <a:xfrm>
              <a:off x="1492857" y="0"/>
              <a:ext cx="1492857" cy="13716000"/>
              <a:chOff x="0" y="0"/>
              <a:chExt cx="294885" cy="2709333"/>
            </a:xfrm>
          </p:grpSpPr>
          <p:sp>
            <p:nvSpPr>
              <p:cNvPr id="6" name="Freeform 6"/>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7" name="TextBox 7"/>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46428" y="0"/>
              <a:ext cx="1492857" cy="13716000"/>
              <a:chOff x="0" y="0"/>
              <a:chExt cx="294885" cy="2709333"/>
            </a:xfrm>
          </p:grpSpPr>
          <p:sp>
            <p:nvSpPr>
              <p:cNvPr id="9" name="Freeform 9"/>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10" name="TextBox 10"/>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0"/>
              <a:ext cx="1492857" cy="13716000"/>
              <a:chOff x="0" y="0"/>
              <a:chExt cx="294885" cy="2709333"/>
            </a:xfrm>
          </p:grpSpPr>
          <p:sp>
            <p:nvSpPr>
              <p:cNvPr id="12" name="Freeform 12"/>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3" name="TextBox 13"/>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5" name="Slide Number Placeholder 14">
            <a:extLst>
              <a:ext uri="{FF2B5EF4-FFF2-40B4-BE49-F238E27FC236}">
                <a16:creationId xmlns:a16="http://schemas.microsoft.com/office/drawing/2014/main" id="{B2D16C08-3BB5-94A1-4F44-45470ECF87EB}"/>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4F84FEDA-98DE-9D6A-6E3F-013FFD69614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835F093-D3D4-495B-EF49-7F1ABD2EBA58}"/>
              </a:ext>
            </a:extLst>
          </p:cNvPr>
          <p:cNvSpPr txBox="1"/>
          <p:nvPr/>
        </p:nvSpPr>
        <p:spPr>
          <a:xfrm>
            <a:off x="3686275" y="495300"/>
            <a:ext cx="13180039" cy="988284"/>
          </a:xfrm>
          <a:prstGeom prst="rect">
            <a:avLst/>
          </a:prstGeom>
        </p:spPr>
        <p:txBody>
          <a:bodyPr lIns="0" tIns="0" rIns="0" bIns="0" rtlCol="0" anchor="t">
            <a:spAutoFit/>
          </a:bodyPr>
          <a:lstStyle/>
          <a:p>
            <a:pPr algn="ctr">
              <a:lnSpc>
                <a:spcPts val="8400"/>
              </a:lnSpc>
            </a:pPr>
            <a:r>
              <a:rPr lang="en-US" sz="6000" b="1" dirty="0">
                <a:solidFill>
                  <a:srgbClr val="000000"/>
                </a:solidFill>
                <a:latin typeface="Times New Roman Bold"/>
                <a:ea typeface="Times New Roman Bold"/>
                <a:cs typeface="Times New Roman Bold"/>
                <a:sym typeface="Times New Roman Bold"/>
              </a:rPr>
              <a:t>LITERATURE REVIEW</a:t>
            </a:r>
          </a:p>
        </p:txBody>
      </p:sp>
      <p:sp>
        <p:nvSpPr>
          <p:cNvPr id="3" name="TextBox 3">
            <a:extLst>
              <a:ext uri="{FF2B5EF4-FFF2-40B4-BE49-F238E27FC236}">
                <a16:creationId xmlns:a16="http://schemas.microsoft.com/office/drawing/2014/main" id="{B36CF741-857D-F8B3-213F-73B318F91BD2}"/>
              </a:ext>
            </a:extLst>
          </p:cNvPr>
          <p:cNvSpPr txBox="1"/>
          <p:nvPr/>
        </p:nvSpPr>
        <p:spPr>
          <a:xfrm>
            <a:off x="2438400" y="1790700"/>
            <a:ext cx="15444631" cy="430887"/>
          </a:xfrm>
          <a:prstGeom prst="rect">
            <a:avLst/>
          </a:prstGeom>
        </p:spPr>
        <p:txBody>
          <a:bodyPr lIns="0" tIns="0" rIns="0" bIns="0" rtlCol="0" anchor="t">
            <a:spAutoFit/>
          </a:bodyPr>
          <a:lstStyle/>
          <a:p>
            <a:pPr marL="514350" indent="-514350" algn="just">
              <a:buFont typeface="+mj-lt"/>
              <a:buAutoNum type="arabicPeriod"/>
            </a:pPr>
            <a:endParaRPr lang="en-US" sz="2800" dirty="0">
              <a:latin typeface="Times New Roman" panose="02020603050405020304" pitchFamily="18" charset="0"/>
              <a:cs typeface="Times New Roman" panose="02020603050405020304" pitchFamily="18" charset="0"/>
            </a:endParaRPr>
          </a:p>
        </p:txBody>
      </p:sp>
      <p:grpSp>
        <p:nvGrpSpPr>
          <p:cNvPr id="4" name="Group 4">
            <a:extLst>
              <a:ext uri="{FF2B5EF4-FFF2-40B4-BE49-F238E27FC236}">
                <a16:creationId xmlns:a16="http://schemas.microsoft.com/office/drawing/2014/main" id="{1E989B53-2CF6-98B7-F3F7-9A15327AAE5C}"/>
              </a:ext>
            </a:extLst>
          </p:cNvPr>
          <p:cNvGrpSpPr/>
          <p:nvPr/>
        </p:nvGrpSpPr>
        <p:grpSpPr>
          <a:xfrm>
            <a:off x="-31071" y="0"/>
            <a:ext cx="2239285" cy="10287000"/>
            <a:chOff x="0" y="0"/>
            <a:chExt cx="2985713" cy="13716000"/>
          </a:xfrm>
        </p:grpSpPr>
        <p:grpSp>
          <p:nvGrpSpPr>
            <p:cNvPr id="5" name="Group 5">
              <a:extLst>
                <a:ext uri="{FF2B5EF4-FFF2-40B4-BE49-F238E27FC236}">
                  <a16:creationId xmlns:a16="http://schemas.microsoft.com/office/drawing/2014/main" id="{4F1A0FA0-960D-7BC4-81A4-4FC363485F37}"/>
                </a:ext>
              </a:extLst>
            </p:cNvPr>
            <p:cNvGrpSpPr/>
            <p:nvPr/>
          </p:nvGrpSpPr>
          <p:grpSpPr>
            <a:xfrm>
              <a:off x="1492857" y="0"/>
              <a:ext cx="1492857" cy="13716000"/>
              <a:chOff x="0" y="0"/>
              <a:chExt cx="294885" cy="2709333"/>
            </a:xfrm>
          </p:grpSpPr>
          <p:sp>
            <p:nvSpPr>
              <p:cNvPr id="6" name="Freeform 6">
                <a:extLst>
                  <a:ext uri="{FF2B5EF4-FFF2-40B4-BE49-F238E27FC236}">
                    <a16:creationId xmlns:a16="http://schemas.microsoft.com/office/drawing/2014/main" id="{BF61F41B-2204-C1BF-E3E0-BCE94A5D869C}"/>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7" name="TextBox 7">
                <a:extLst>
                  <a:ext uri="{FF2B5EF4-FFF2-40B4-BE49-F238E27FC236}">
                    <a16:creationId xmlns:a16="http://schemas.microsoft.com/office/drawing/2014/main" id="{A19C91E3-3296-501C-42D2-7EC7C6CB03BD}"/>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0513CC5A-F311-8AB6-BA92-C643DDD9E08E}"/>
                </a:ext>
              </a:extLst>
            </p:cNvPr>
            <p:cNvGrpSpPr/>
            <p:nvPr/>
          </p:nvGrpSpPr>
          <p:grpSpPr>
            <a:xfrm>
              <a:off x="746428" y="0"/>
              <a:ext cx="1492857" cy="13716000"/>
              <a:chOff x="0" y="0"/>
              <a:chExt cx="294885" cy="2709333"/>
            </a:xfrm>
          </p:grpSpPr>
          <p:sp>
            <p:nvSpPr>
              <p:cNvPr id="9" name="Freeform 9">
                <a:extLst>
                  <a:ext uri="{FF2B5EF4-FFF2-40B4-BE49-F238E27FC236}">
                    <a16:creationId xmlns:a16="http://schemas.microsoft.com/office/drawing/2014/main" id="{76CEB780-C1D6-B2B2-3F8B-B2CA2FC81B47}"/>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10" name="TextBox 10">
                <a:extLst>
                  <a:ext uri="{FF2B5EF4-FFF2-40B4-BE49-F238E27FC236}">
                    <a16:creationId xmlns:a16="http://schemas.microsoft.com/office/drawing/2014/main" id="{82A370E1-39A6-14F8-48D6-C916797D8DA5}"/>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4ABBE6A5-A61F-29B3-84B1-F6DBCBEA35B1}"/>
                </a:ext>
              </a:extLst>
            </p:cNvPr>
            <p:cNvGrpSpPr/>
            <p:nvPr/>
          </p:nvGrpSpPr>
          <p:grpSpPr>
            <a:xfrm>
              <a:off x="0" y="0"/>
              <a:ext cx="1492857" cy="13716000"/>
              <a:chOff x="0" y="0"/>
              <a:chExt cx="294885" cy="2709333"/>
            </a:xfrm>
          </p:grpSpPr>
          <p:sp>
            <p:nvSpPr>
              <p:cNvPr id="12" name="Freeform 12">
                <a:extLst>
                  <a:ext uri="{FF2B5EF4-FFF2-40B4-BE49-F238E27FC236}">
                    <a16:creationId xmlns:a16="http://schemas.microsoft.com/office/drawing/2014/main" id="{3A0C4AA0-B0D2-CFE3-4770-F72354C15CC5}"/>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3" name="TextBox 13">
                <a:extLst>
                  <a:ext uri="{FF2B5EF4-FFF2-40B4-BE49-F238E27FC236}">
                    <a16:creationId xmlns:a16="http://schemas.microsoft.com/office/drawing/2014/main" id="{EEAD30F0-19ED-225D-88C6-FA5F340E3614}"/>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5" name="Slide Number Placeholder 14">
            <a:extLst>
              <a:ext uri="{FF2B5EF4-FFF2-40B4-BE49-F238E27FC236}">
                <a16:creationId xmlns:a16="http://schemas.microsoft.com/office/drawing/2014/main" id="{0FF1ADDB-5A91-474A-A18C-D646BA08CAE0}"/>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20" name="TextBox 19">
            <a:extLst>
              <a:ext uri="{FF2B5EF4-FFF2-40B4-BE49-F238E27FC236}">
                <a16:creationId xmlns:a16="http://schemas.microsoft.com/office/drawing/2014/main" id="{EE4312F8-EBF0-79EF-2292-C0583EBB4222}"/>
              </a:ext>
            </a:extLst>
          </p:cNvPr>
          <p:cNvSpPr txBox="1"/>
          <p:nvPr/>
        </p:nvSpPr>
        <p:spPr>
          <a:xfrm>
            <a:off x="2438400" y="1801761"/>
            <a:ext cx="15163800" cy="6273512"/>
          </a:xfrm>
          <a:prstGeom prst="rect">
            <a:avLst/>
          </a:prstGeom>
          <a:noFill/>
        </p:spPr>
        <p:txBody>
          <a:bodyPr wrap="square">
            <a:spAutoFit/>
          </a:bodyPr>
          <a:lstStyle/>
          <a:p>
            <a:pPr algn="just">
              <a:spcAft>
                <a:spcPts val="450"/>
              </a:spcAft>
              <a:buFont typeface="+mj-lt"/>
              <a:buAutoNum type="arabicPeriod"/>
            </a:pPr>
            <a:r>
              <a:rPr lang="en-US" sz="3500" b="1" i="0" dirty="0">
                <a:latin typeface="Times New Roman" panose="02020603050405020304" pitchFamily="18" charset="0"/>
                <a:cs typeface="Times New Roman" panose="02020603050405020304" pitchFamily="18" charset="0"/>
              </a:rPr>
              <a:t>Tian (2016):</a:t>
            </a:r>
            <a:r>
              <a:rPr lang="en-US" sz="3500" b="0" i="0" dirty="0">
                <a:latin typeface="Times New Roman" panose="02020603050405020304" pitchFamily="18" charset="0"/>
                <a:cs typeface="Times New Roman" panose="02020603050405020304" pitchFamily="18" charset="0"/>
              </a:rPr>
              <a:t> Introduced a blockchain and RFID-based system for agri-food traceability to improve transparency and food safety. It showed how product information can be securely tracked across the supply chain.</a:t>
            </a:r>
          </a:p>
          <a:p>
            <a:pPr algn="just">
              <a:spcAft>
                <a:spcPts val="450"/>
              </a:spcAft>
              <a:buFont typeface="+mj-lt"/>
              <a:buAutoNum type="arabicPeriod"/>
            </a:pPr>
            <a:endParaRPr lang="en-US" sz="3500" b="0" i="0" dirty="0">
              <a:latin typeface="Times New Roman" panose="02020603050405020304" pitchFamily="18" charset="0"/>
              <a:cs typeface="Times New Roman" panose="02020603050405020304" pitchFamily="18" charset="0"/>
            </a:endParaRPr>
          </a:p>
          <a:p>
            <a:pPr algn="just">
              <a:spcAft>
                <a:spcPts val="450"/>
              </a:spcAft>
              <a:buFont typeface="+mj-lt"/>
              <a:buAutoNum type="arabicPeriod"/>
            </a:pPr>
            <a:r>
              <a:rPr lang="en-US" sz="3500" b="1" i="0" dirty="0">
                <a:latin typeface="Times New Roman" panose="02020603050405020304" pitchFamily="18" charset="0"/>
                <a:cs typeface="Times New Roman" panose="02020603050405020304" pitchFamily="18" charset="0"/>
              </a:rPr>
              <a:t>Caro et al. (2018):</a:t>
            </a:r>
            <a:r>
              <a:rPr lang="en-US" sz="3500" b="0" i="0" dirty="0">
                <a:latin typeface="Times New Roman" panose="02020603050405020304" pitchFamily="18" charset="0"/>
                <a:cs typeface="Times New Roman" panose="02020603050405020304" pitchFamily="18" charset="0"/>
              </a:rPr>
              <a:t> Proposed a practical blockchain-based traceability solution for agri-food supply chains using IoT and smart contracts. Their work demonstrated secure and reliable monitoring of product movement.</a:t>
            </a:r>
          </a:p>
          <a:p>
            <a:pPr algn="just">
              <a:spcAft>
                <a:spcPts val="450"/>
              </a:spcAft>
              <a:buFont typeface="+mj-lt"/>
              <a:buAutoNum type="arabicPeriod"/>
            </a:pPr>
            <a:endParaRPr lang="en-US" sz="3500" b="0" i="0" dirty="0">
              <a:latin typeface="Times New Roman" panose="02020603050405020304" pitchFamily="18" charset="0"/>
              <a:cs typeface="Times New Roman" panose="02020603050405020304" pitchFamily="18" charset="0"/>
            </a:endParaRPr>
          </a:p>
          <a:p>
            <a:pPr algn="just">
              <a:spcAft>
                <a:spcPts val="450"/>
              </a:spcAft>
              <a:buFont typeface="+mj-lt"/>
              <a:buAutoNum type="arabicPeriod"/>
            </a:pPr>
            <a:r>
              <a:rPr lang="en-US" sz="3500" b="1" i="0" dirty="0">
                <a:latin typeface="Times New Roman" panose="02020603050405020304" pitchFamily="18" charset="0"/>
                <a:cs typeface="Times New Roman" panose="02020603050405020304" pitchFamily="18" charset="0"/>
              </a:rPr>
              <a:t>Zhao et al. (2019):</a:t>
            </a:r>
            <a:r>
              <a:rPr lang="en-US" sz="3500" b="0" i="0" dirty="0">
                <a:latin typeface="Times New Roman" panose="02020603050405020304" pitchFamily="18" charset="0"/>
                <a:cs typeface="Times New Roman" panose="02020603050405020304" pitchFamily="18" charset="0"/>
              </a:rPr>
              <a:t> Reviewed blockchain applications in agri-food value chains and highlighted benefits like traceability, trust, and data security. The study also discussed challenges such as scalability, privacy, and implementation cost</a:t>
            </a:r>
          </a:p>
        </p:txBody>
      </p:sp>
    </p:spTree>
    <p:extLst>
      <p:ext uri="{BB962C8B-B14F-4D97-AF65-F5344CB8AC3E}">
        <p14:creationId xmlns:p14="http://schemas.microsoft.com/office/powerpoint/2010/main" val="987769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626251" y="333375"/>
            <a:ext cx="13180039" cy="1152525"/>
          </a:xfrm>
          <a:prstGeom prst="rect">
            <a:avLst/>
          </a:prstGeom>
        </p:spPr>
        <p:txBody>
          <a:bodyPr lIns="0" tIns="0" rIns="0" bIns="0" rtlCol="0" anchor="t">
            <a:spAutoFit/>
          </a:bodyPr>
          <a:lstStyle/>
          <a:p>
            <a:pPr algn="ctr">
              <a:lnSpc>
                <a:spcPts val="8400"/>
              </a:lnSpc>
            </a:pPr>
            <a:r>
              <a:rPr lang="en-US" sz="6000" b="1">
                <a:solidFill>
                  <a:srgbClr val="000000"/>
                </a:solidFill>
                <a:latin typeface="Times New Roman Bold"/>
                <a:ea typeface="Times New Roman Bold"/>
                <a:cs typeface="Times New Roman Bold"/>
                <a:sym typeface="Times New Roman Bold"/>
              </a:rPr>
              <a:t>EXISTING SYSTEM</a:t>
            </a:r>
          </a:p>
        </p:txBody>
      </p:sp>
      <p:grpSp>
        <p:nvGrpSpPr>
          <p:cNvPr id="3" name="Group 3"/>
          <p:cNvGrpSpPr/>
          <p:nvPr/>
        </p:nvGrpSpPr>
        <p:grpSpPr>
          <a:xfrm>
            <a:off x="-31071" y="0"/>
            <a:ext cx="2239285" cy="10287000"/>
            <a:chOff x="0" y="0"/>
            <a:chExt cx="2985713" cy="13716000"/>
          </a:xfrm>
        </p:grpSpPr>
        <p:grpSp>
          <p:nvGrpSpPr>
            <p:cNvPr id="4" name="Group 4"/>
            <p:cNvGrpSpPr/>
            <p:nvPr/>
          </p:nvGrpSpPr>
          <p:grpSpPr>
            <a:xfrm>
              <a:off x="1492857" y="0"/>
              <a:ext cx="1492857" cy="13716000"/>
              <a:chOff x="0" y="0"/>
              <a:chExt cx="294885" cy="2709333"/>
            </a:xfrm>
          </p:grpSpPr>
          <p:sp>
            <p:nvSpPr>
              <p:cNvPr id="5" name="Freeform 5"/>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6" name="TextBox 6"/>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46428" y="0"/>
              <a:ext cx="1492857" cy="13716000"/>
              <a:chOff x="0" y="0"/>
              <a:chExt cx="294885" cy="2709333"/>
            </a:xfrm>
          </p:grpSpPr>
          <p:sp>
            <p:nvSpPr>
              <p:cNvPr id="8" name="Freeform 8"/>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9" name="TextBox 9"/>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1492857" cy="13716000"/>
              <a:chOff x="0" y="0"/>
              <a:chExt cx="294885" cy="2709333"/>
            </a:xfrm>
          </p:grpSpPr>
          <p:sp>
            <p:nvSpPr>
              <p:cNvPr id="11" name="Freeform 11"/>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2" name="TextBox 12"/>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3" name="TextBox 13"/>
          <p:cNvSpPr txBox="1"/>
          <p:nvPr/>
        </p:nvSpPr>
        <p:spPr>
          <a:xfrm>
            <a:off x="2389587" y="909637"/>
            <a:ext cx="15653366" cy="8848576"/>
          </a:xfrm>
          <a:prstGeom prst="rect">
            <a:avLst/>
          </a:prstGeom>
        </p:spPr>
        <p:txBody>
          <a:bodyPr lIns="0" tIns="0" rIns="0" bIns="0" rtlCol="0" anchor="t">
            <a:spAutoFit/>
          </a:bodyPr>
          <a:lstStyle/>
          <a:p>
            <a:pPr algn="just">
              <a:lnSpc>
                <a:spcPts val="4200"/>
              </a:lnSpc>
              <a:spcBef>
                <a:spcPct val="0"/>
              </a:spcBef>
            </a:pPr>
            <a:endParaRPr lang="en-US" sz="3000" dirty="0">
              <a:latin typeface="Times New Roman" panose="02020603050405020304" pitchFamily="18" charset="0"/>
              <a:cs typeface="Times New Roman" panose="02020603050405020304" pitchFamily="18" charset="0"/>
            </a:endParaRPr>
          </a:p>
          <a:p>
            <a:pPr algn="just">
              <a:lnSpc>
                <a:spcPts val="4200"/>
              </a:lnSpc>
              <a:spcBef>
                <a:spcPct val="0"/>
              </a:spcBef>
            </a:pPr>
            <a:r>
              <a:rPr lang="en-US" sz="3000" dirty="0">
                <a:latin typeface="Times New Roman" panose="02020603050405020304" pitchFamily="18" charset="0"/>
                <a:cs typeface="Times New Roman" panose="02020603050405020304" pitchFamily="18" charset="0"/>
              </a:rPr>
              <a:t>The traditional farm supply chain depends on manual records and middlemen for product movement and sales. This leads to low transparency, poor traceability, delayed communication, and difficulty in verifying product origin.</a:t>
            </a:r>
          </a:p>
          <a:p>
            <a:pPr algn="just">
              <a:lnSpc>
                <a:spcPts val="4200"/>
              </a:lnSpc>
              <a:spcBef>
                <a:spcPct val="0"/>
              </a:spcBef>
            </a:pPr>
            <a:endParaRPr lang="en-US" sz="35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514350" indent="-514350" algn="just">
              <a:lnSpc>
                <a:spcPts val="4200"/>
              </a:lnSpc>
              <a:spcBef>
                <a:spcPct val="0"/>
              </a:spcBef>
              <a:buAutoNum type="arabicPeriod"/>
            </a:pPr>
            <a:r>
              <a:rPr lang="en-US" sz="35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Technical Analysis:</a:t>
            </a:r>
          </a:p>
          <a:p>
            <a:pPr marL="514350" indent="-514350" algn="just">
              <a:lnSpc>
                <a:spcPts val="4200"/>
              </a:lnSpc>
              <a:spcBef>
                <a:spcPct val="0"/>
              </a:spcBef>
              <a:buAutoNum type="arabicPeriod"/>
            </a:pPr>
            <a:endParaRPr lang="en-US" sz="35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just"/>
            <a:r>
              <a:rPr lang="en-US" sz="3000" dirty="0">
                <a:latin typeface="Times New Roman" panose="02020603050405020304" pitchFamily="18" charset="0"/>
                <a:cs typeface="Times New Roman" panose="02020603050405020304" pitchFamily="18" charset="0"/>
              </a:rPr>
              <a:t>The traditional agricultural supply chain often relies on manual record-keeping or siloed digital databases, leading to several inefficiencies:</a:t>
            </a:r>
          </a:p>
          <a:p>
            <a:pPr algn="just"/>
            <a:endParaRPr lang="en-US" sz="30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Lack of Transparency</a:t>
            </a:r>
            <a:r>
              <a:rPr lang="en-US" sz="3000" dirty="0">
                <a:latin typeface="Times New Roman" panose="02020603050405020304" pitchFamily="18" charset="0"/>
                <a:cs typeface="Times New Roman" panose="02020603050405020304" pitchFamily="18" charset="0"/>
              </a:rPr>
              <a:t>: Information regarding a product's origin, harvest date, and batch details is often lost as it moves through various intermediaries.</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Traceability Gaps</a:t>
            </a:r>
            <a:r>
              <a:rPr lang="en-US" sz="3000" dirty="0">
                <a:latin typeface="Times New Roman" panose="02020603050405020304" pitchFamily="18" charset="0"/>
                <a:cs typeface="Times New Roman" panose="02020603050405020304" pitchFamily="18" charset="0"/>
              </a:rPr>
              <a:t>: Tracking the "farm-to-fork" journey is difficult for consumers, as there is no unified, public ledger to verify the stages of an order.</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Fragmented Data</a:t>
            </a:r>
            <a:r>
              <a:rPr lang="en-US" sz="3000" dirty="0">
                <a:latin typeface="Times New Roman" panose="02020603050405020304" pitchFamily="18" charset="0"/>
                <a:cs typeface="Times New Roman" panose="02020603050405020304" pitchFamily="18" charset="0"/>
              </a:rPr>
              <a:t>: Farmers, buyers, and logistics providers maintain separate records, making it hard to resolve disputes regarding payment or delivery status.</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Security Risks</a:t>
            </a:r>
            <a:r>
              <a:rPr lang="en-US" sz="3000" dirty="0">
                <a:latin typeface="Times New Roman" panose="02020603050405020304" pitchFamily="18" charset="0"/>
                <a:cs typeface="Times New Roman" panose="02020603050405020304" pitchFamily="18" charset="0"/>
              </a:rPr>
              <a:t>: Traditional centralized databases are vulnerable to unauthorized alterations, and there is often no immutable proof of a transaction or product listing.</a:t>
            </a:r>
          </a:p>
        </p:txBody>
      </p:sp>
      <p:sp>
        <p:nvSpPr>
          <p:cNvPr id="15" name="Slide Number Placeholder 14">
            <a:extLst>
              <a:ext uri="{FF2B5EF4-FFF2-40B4-BE49-F238E27FC236}">
                <a16:creationId xmlns:a16="http://schemas.microsoft.com/office/drawing/2014/main" id="{FCCC8FA0-2DB2-B12C-3BCF-D53B236B2DF3}"/>
              </a:ext>
            </a:extLst>
          </p:cNvPr>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708713" y="333375"/>
            <a:ext cx="13180039" cy="1152525"/>
          </a:xfrm>
          <a:prstGeom prst="rect">
            <a:avLst/>
          </a:prstGeom>
        </p:spPr>
        <p:txBody>
          <a:bodyPr lIns="0" tIns="0" rIns="0" bIns="0" rtlCol="0" anchor="t">
            <a:spAutoFit/>
          </a:bodyPr>
          <a:lstStyle/>
          <a:p>
            <a:pPr algn="ctr">
              <a:lnSpc>
                <a:spcPts val="8400"/>
              </a:lnSpc>
            </a:pPr>
            <a:r>
              <a:rPr lang="en-US" sz="6000" b="1">
                <a:solidFill>
                  <a:srgbClr val="000000"/>
                </a:solidFill>
                <a:latin typeface="Times New Roman Bold"/>
                <a:ea typeface="Times New Roman Bold"/>
                <a:cs typeface="Times New Roman Bold"/>
                <a:sym typeface="Times New Roman Bold"/>
              </a:rPr>
              <a:t>EXISTING SYSTEM</a:t>
            </a:r>
          </a:p>
        </p:txBody>
      </p:sp>
      <p:grpSp>
        <p:nvGrpSpPr>
          <p:cNvPr id="3" name="Group 3"/>
          <p:cNvGrpSpPr/>
          <p:nvPr/>
        </p:nvGrpSpPr>
        <p:grpSpPr>
          <a:xfrm>
            <a:off x="-31071" y="0"/>
            <a:ext cx="2239285" cy="10287000"/>
            <a:chOff x="0" y="0"/>
            <a:chExt cx="2985713" cy="13716000"/>
          </a:xfrm>
        </p:grpSpPr>
        <p:grpSp>
          <p:nvGrpSpPr>
            <p:cNvPr id="4" name="Group 4"/>
            <p:cNvGrpSpPr/>
            <p:nvPr/>
          </p:nvGrpSpPr>
          <p:grpSpPr>
            <a:xfrm>
              <a:off x="1492857" y="0"/>
              <a:ext cx="1492857" cy="13716000"/>
              <a:chOff x="0" y="0"/>
              <a:chExt cx="294885" cy="2709333"/>
            </a:xfrm>
          </p:grpSpPr>
          <p:sp>
            <p:nvSpPr>
              <p:cNvPr id="5" name="Freeform 5"/>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6" name="TextBox 6"/>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46428" y="0"/>
              <a:ext cx="1492857" cy="13716000"/>
              <a:chOff x="0" y="0"/>
              <a:chExt cx="294885" cy="2709333"/>
            </a:xfrm>
          </p:grpSpPr>
          <p:sp>
            <p:nvSpPr>
              <p:cNvPr id="8" name="Freeform 8"/>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9" name="TextBox 9"/>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1492857" cy="13716000"/>
              <a:chOff x="0" y="0"/>
              <a:chExt cx="294885" cy="2709333"/>
            </a:xfrm>
          </p:grpSpPr>
          <p:sp>
            <p:nvSpPr>
              <p:cNvPr id="11" name="Freeform 11"/>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2" name="TextBox 12"/>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3" name="TextBox 13"/>
          <p:cNvSpPr txBox="1"/>
          <p:nvPr/>
        </p:nvSpPr>
        <p:spPr>
          <a:xfrm>
            <a:off x="2472049" y="1728840"/>
            <a:ext cx="15287201" cy="8191601"/>
          </a:xfrm>
          <a:prstGeom prst="rect">
            <a:avLst/>
          </a:prstGeom>
        </p:spPr>
        <p:txBody>
          <a:bodyPr wrap="square" lIns="0" tIns="0" rIns="0" bIns="0" rtlCol="0" anchor="t">
            <a:spAutoFit/>
          </a:bodyPr>
          <a:lstStyle/>
          <a:p>
            <a:pPr algn="just">
              <a:lnSpc>
                <a:spcPts val="4899"/>
              </a:lnSpc>
            </a:pPr>
            <a:r>
              <a:rPr lang="en-US" sz="3499" b="1" dirty="0">
                <a:solidFill>
                  <a:srgbClr val="000000"/>
                </a:solidFill>
                <a:latin typeface="Times New Roman Bold"/>
                <a:ea typeface="Times New Roman Bold"/>
                <a:cs typeface="Times New Roman Bold"/>
                <a:sym typeface="Times New Roman Bold"/>
              </a:rPr>
              <a:t>Limitations Of  The Existing System</a:t>
            </a:r>
          </a:p>
          <a:p>
            <a:endParaRPr lang="en-US" sz="3499" b="1" dirty="0">
              <a:solidFill>
                <a:srgbClr val="000000"/>
              </a:solidFill>
              <a:latin typeface="Times New Roman Bold"/>
              <a:cs typeface="Times New Roman Bold"/>
              <a:sym typeface="Times New Roman Bold"/>
            </a:endParaRPr>
          </a:p>
          <a:p>
            <a:r>
              <a:rPr lang="en-US" sz="3000" dirty="0">
                <a:latin typeface="Times New Roman" panose="02020603050405020304" pitchFamily="18" charset="0"/>
                <a:cs typeface="Times New Roman" panose="02020603050405020304" pitchFamily="18" charset="0"/>
              </a:rPr>
              <a:t>The existed system represents traditional agricultural supply chain management, which typically relies on centralized databases or manual record-keeping.</a:t>
            </a:r>
          </a:p>
          <a:p>
            <a:endParaRPr lang="en-US" sz="30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Centralized Data Storage</a:t>
            </a:r>
            <a:r>
              <a:rPr lang="en-US" sz="3000" dirty="0">
                <a:latin typeface="Times New Roman" panose="02020603050405020304" pitchFamily="18" charset="0"/>
                <a:cs typeface="Times New Roman" panose="02020603050405020304" pitchFamily="18" charset="0"/>
              </a:rPr>
              <a:t>: Information is stored in private, siloed databases owned by individual companies or intermediaries, making it difficult for other stakeholders to verify data.</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Limited Traceability</a:t>
            </a:r>
            <a:r>
              <a:rPr lang="en-US" sz="3000" dirty="0">
                <a:latin typeface="Times New Roman" panose="02020603050405020304" pitchFamily="18" charset="0"/>
                <a:cs typeface="Times New Roman" panose="02020603050405020304" pitchFamily="18" charset="0"/>
              </a:rPr>
              <a:t>: Consumers often have no way to verify the "farm-to-fork" journey, including specific batch codes, origin locations, or exact harvest dates.</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Manual Order Tracking</a:t>
            </a:r>
            <a:r>
              <a:rPr lang="en-US" sz="3000" dirty="0">
                <a:latin typeface="Times New Roman" panose="02020603050405020304" pitchFamily="18" charset="0"/>
                <a:cs typeface="Times New Roman" panose="02020603050405020304" pitchFamily="18" charset="0"/>
              </a:rPr>
              <a:t>: Tracking often depends on manual updates from logistics providers, which can be delayed or prone to human error.</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Trust Deficit</a:t>
            </a:r>
            <a:r>
              <a:rPr lang="en-US" sz="3000" dirty="0">
                <a:latin typeface="Times New Roman" panose="02020603050405020304" pitchFamily="18" charset="0"/>
                <a:cs typeface="Times New Roman" panose="02020603050405020304" pitchFamily="18" charset="0"/>
              </a:rPr>
              <a:t>: Transactions and product quality claims rely entirely on the reputation of the seller or intermediary without immutable proof.</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Opaque Payment Cycles</a:t>
            </a:r>
            <a:r>
              <a:rPr lang="en-US" sz="3000" dirty="0">
                <a:latin typeface="Times New Roman" panose="02020603050405020304" pitchFamily="18" charset="0"/>
                <a:cs typeface="Times New Roman" panose="02020603050405020304" pitchFamily="18" charset="0"/>
              </a:rPr>
              <a:t>: Payment status and collection (especially for Cash on Delivery) are often tracked in spreadsheets or private ledgers, leading to potential disputes between farmers and buyers.</a:t>
            </a:r>
          </a:p>
          <a:p>
            <a:pPr algn="just">
              <a:lnSpc>
                <a:spcPts val="4899"/>
              </a:lnSpc>
            </a:pPr>
            <a:endParaRPr lang="en-US" sz="3000" dirty="0">
              <a:solidFill>
                <a:srgbClr val="000000"/>
              </a:solidFill>
              <a:latin typeface="Times New Roman"/>
              <a:ea typeface="Times New Roman"/>
              <a:cs typeface="Times New Roman"/>
              <a:sym typeface="Times New Roman"/>
            </a:endParaRPr>
          </a:p>
        </p:txBody>
      </p:sp>
      <p:sp>
        <p:nvSpPr>
          <p:cNvPr id="15" name="Slide Number Placeholder 14">
            <a:extLst>
              <a:ext uri="{FF2B5EF4-FFF2-40B4-BE49-F238E27FC236}">
                <a16:creationId xmlns:a16="http://schemas.microsoft.com/office/drawing/2014/main" id="{1798D810-7320-24E1-3A02-7F92B6C9C48E}"/>
              </a:ext>
            </a:extLst>
          </p:cNvPr>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626251" y="44758"/>
            <a:ext cx="13180039" cy="1152525"/>
          </a:xfrm>
          <a:prstGeom prst="rect">
            <a:avLst/>
          </a:prstGeom>
        </p:spPr>
        <p:txBody>
          <a:bodyPr lIns="0" tIns="0" rIns="0" bIns="0" rtlCol="0" anchor="t">
            <a:spAutoFit/>
          </a:bodyPr>
          <a:lstStyle/>
          <a:p>
            <a:pPr algn="ctr">
              <a:lnSpc>
                <a:spcPts val="8400"/>
              </a:lnSpc>
            </a:pPr>
            <a:r>
              <a:rPr lang="en-US" sz="6000" b="1">
                <a:solidFill>
                  <a:srgbClr val="000000"/>
                </a:solidFill>
                <a:latin typeface="Times New Roman Bold"/>
                <a:ea typeface="Times New Roman Bold"/>
                <a:cs typeface="Times New Roman Bold"/>
                <a:sym typeface="Times New Roman Bold"/>
              </a:rPr>
              <a:t>PROPOSED SYSTEM</a:t>
            </a:r>
          </a:p>
        </p:txBody>
      </p:sp>
      <p:grpSp>
        <p:nvGrpSpPr>
          <p:cNvPr id="3" name="Group 3"/>
          <p:cNvGrpSpPr/>
          <p:nvPr/>
        </p:nvGrpSpPr>
        <p:grpSpPr>
          <a:xfrm>
            <a:off x="-31071" y="0"/>
            <a:ext cx="2239285" cy="10287000"/>
            <a:chOff x="0" y="0"/>
            <a:chExt cx="2985713" cy="13716000"/>
          </a:xfrm>
        </p:grpSpPr>
        <p:grpSp>
          <p:nvGrpSpPr>
            <p:cNvPr id="4" name="Group 4"/>
            <p:cNvGrpSpPr/>
            <p:nvPr/>
          </p:nvGrpSpPr>
          <p:grpSpPr>
            <a:xfrm>
              <a:off x="1492857" y="0"/>
              <a:ext cx="1492857" cy="13716000"/>
              <a:chOff x="0" y="0"/>
              <a:chExt cx="294885" cy="2709333"/>
            </a:xfrm>
          </p:grpSpPr>
          <p:sp>
            <p:nvSpPr>
              <p:cNvPr id="5" name="Freeform 5"/>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6" name="TextBox 6"/>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46428" y="0"/>
              <a:ext cx="1492857" cy="13716000"/>
              <a:chOff x="0" y="0"/>
              <a:chExt cx="294885" cy="2709333"/>
            </a:xfrm>
          </p:grpSpPr>
          <p:sp>
            <p:nvSpPr>
              <p:cNvPr id="8" name="Freeform 8"/>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9" name="TextBox 9"/>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1492857" cy="13716000"/>
              <a:chOff x="0" y="0"/>
              <a:chExt cx="294885" cy="2709333"/>
            </a:xfrm>
          </p:grpSpPr>
          <p:sp>
            <p:nvSpPr>
              <p:cNvPr id="11" name="Freeform 11"/>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2" name="TextBox 12"/>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3" name="TextBox 13"/>
          <p:cNvSpPr txBox="1"/>
          <p:nvPr/>
        </p:nvSpPr>
        <p:spPr>
          <a:xfrm>
            <a:off x="2389587" y="1028700"/>
            <a:ext cx="15653366" cy="10341293"/>
          </a:xfrm>
          <a:prstGeom prst="rect">
            <a:avLst/>
          </a:prstGeom>
        </p:spPr>
        <p:txBody>
          <a:bodyPr lIns="0" tIns="0" rIns="0" bIns="0" rtlCol="0" anchor="t">
            <a:spAutoFit/>
          </a:bodyPr>
          <a:lstStyle/>
          <a:p>
            <a:pPr algn="just">
              <a:lnSpc>
                <a:spcPts val="4200"/>
              </a:lnSpc>
              <a:spcBef>
                <a:spcPct val="0"/>
              </a:spcBef>
            </a:pPr>
            <a:r>
              <a:rPr lang="en-US" sz="3000" dirty="0">
                <a:latin typeface="Times New Roman" panose="02020603050405020304" pitchFamily="18" charset="0"/>
                <a:cs typeface="Times New Roman" panose="02020603050405020304" pitchFamily="18" charset="0"/>
              </a:rPr>
              <a:t>The proposed system is a "local-first" agricultural marketplace that utilizes blockchain technology to create a transparent, immutable proof-of-concept for supply chain workflows.</a:t>
            </a:r>
            <a:endParaRPr lang="en-US" sz="3500" b="1" dirty="0">
              <a:solidFill>
                <a:srgbClr val="000000"/>
              </a:solidFill>
              <a:latin typeface="Times New Roman Bold"/>
              <a:ea typeface="Times New Roman Bold"/>
              <a:cs typeface="Times New Roman Bold"/>
              <a:sym typeface="Times New Roman Bold"/>
            </a:endParaRPr>
          </a:p>
          <a:p>
            <a:pPr algn="just">
              <a:lnSpc>
                <a:spcPts val="4200"/>
              </a:lnSpc>
              <a:spcBef>
                <a:spcPct val="0"/>
              </a:spcBef>
            </a:pPr>
            <a:r>
              <a:rPr lang="en-US" sz="3500" b="1" dirty="0">
                <a:solidFill>
                  <a:srgbClr val="000000"/>
                </a:solidFill>
                <a:latin typeface="Times New Roman Bold"/>
                <a:ea typeface="Times New Roman Bold"/>
                <a:cs typeface="Times New Roman Bold"/>
                <a:sym typeface="Times New Roman Bold"/>
              </a:rPr>
              <a:t>Features of the Proposed System:</a:t>
            </a:r>
          </a:p>
          <a:p>
            <a:pPr algn="just">
              <a:lnSpc>
                <a:spcPts val="4200"/>
              </a:lnSpc>
              <a:spcBef>
                <a:spcPct val="0"/>
              </a:spcBef>
            </a:pPr>
            <a:endParaRPr lang="en-US" sz="3000" b="1" dirty="0">
              <a:solidFill>
                <a:srgbClr val="000000"/>
              </a:solidFill>
              <a:latin typeface="Times New Roman Bold"/>
              <a:ea typeface="Times New Roman Bold"/>
              <a:cs typeface="Times New Roman Bold"/>
              <a:sym typeface="Times New Roman Bold"/>
            </a:endParaRPr>
          </a:p>
          <a:p>
            <a:pPr marL="342900" indent="-342900">
              <a:buFont typeface="+mj-lt"/>
              <a:buAutoNum type="arabicPeriod"/>
            </a:pPr>
            <a:r>
              <a:rPr lang="en-US" sz="2800" b="1" dirty="0">
                <a:latin typeface="Times New Roman" panose="02020603050405020304" pitchFamily="18" charset="0"/>
                <a:cs typeface="Times New Roman" panose="02020603050405020304" pitchFamily="18" charset="0"/>
              </a:rPr>
              <a:t>Farmer Module:</a:t>
            </a:r>
            <a:r>
              <a:rPr lang="en-US" sz="2800" dirty="0">
                <a:latin typeface="Times New Roman" panose="02020603050405020304" pitchFamily="18" charset="0"/>
                <a:cs typeface="Times New Roman" panose="02020603050405020304" pitchFamily="18" charset="0"/>
              </a:rPr>
              <a:t> Farmers can add, update, and manage agricultural products with details like batch code, harvest date, origin, quantity, and price.</a:t>
            </a:r>
          </a:p>
          <a:p>
            <a:pPr marL="342900" indent="-342900">
              <a:buFont typeface="+mj-lt"/>
              <a:buAutoNum type="arabicPeriod"/>
            </a:pPr>
            <a:r>
              <a:rPr lang="en-US" sz="2800" b="1" dirty="0">
                <a:latin typeface="Times New Roman" panose="02020603050405020304" pitchFamily="18" charset="0"/>
                <a:cs typeface="Times New Roman" panose="02020603050405020304" pitchFamily="18" charset="0"/>
              </a:rPr>
              <a:t>Buyer Module:</a:t>
            </a:r>
            <a:r>
              <a:rPr lang="en-US" sz="2800" dirty="0">
                <a:latin typeface="Times New Roman" panose="02020603050405020304" pitchFamily="18" charset="0"/>
                <a:cs typeface="Times New Roman" panose="02020603050405020304" pitchFamily="18" charset="0"/>
              </a:rPr>
              <a:t> Buyers can view products, add them to cart, place orders, and choose online payment or cash on delivery.</a:t>
            </a:r>
          </a:p>
          <a:p>
            <a:pPr marL="342900" indent="-342900">
              <a:buFont typeface="+mj-lt"/>
              <a:buAutoNum type="arabicPeriod"/>
            </a:pPr>
            <a:r>
              <a:rPr lang="en-US" sz="2800" b="1" dirty="0">
                <a:latin typeface="Times New Roman" panose="02020603050405020304" pitchFamily="18" charset="0"/>
                <a:cs typeface="Times New Roman" panose="02020603050405020304" pitchFamily="18" charset="0"/>
              </a:rPr>
              <a:t>Blockchain Integration:</a:t>
            </a:r>
            <a:r>
              <a:rPr lang="en-US" sz="2800" dirty="0">
                <a:latin typeface="Times New Roman" panose="02020603050405020304" pitchFamily="18" charset="0"/>
                <a:cs typeface="Times New Roman" panose="02020603050405020304" pitchFamily="18" charset="0"/>
              </a:rPr>
              <a:t> Important supply chain events such as product creation, order creation, payment updates, and delivery status are securely recorded on blockchain.</a:t>
            </a:r>
          </a:p>
          <a:p>
            <a:pPr marL="342900" indent="-342900">
              <a:buFont typeface="+mj-lt"/>
              <a:buAutoNum type="arabicPeriod"/>
            </a:pPr>
            <a:r>
              <a:rPr lang="en-US" sz="2800" b="1" dirty="0">
                <a:latin typeface="Times New Roman" panose="02020603050405020304" pitchFamily="18" charset="0"/>
                <a:cs typeface="Times New Roman" panose="02020603050405020304" pitchFamily="18" charset="0"/>
              </a:rPr>
              <a:t>Order Tracking:</a:t>
            </a:r>
            <a:r>
              <a:rPr lang="en-US" sz="2800" dirty="0">
                <a:latin typeface="Times New Roman" panose="02020603050405020304" pitchFamily="18" charset="0"/>
                <a:cs typeface="Times New Roman" panose="02020603050405020304" pitchFamily="18" charset="0"/>
              </a:rPr>
              <a:t> The system provides public order tracking so users can check product movement and order status using the order number.</a:t>
            </a:r>
          </a:p>
          <a:p>
            <a:pPr marL="342900" indent="-342900">
              <a:buFont typeface="+mj-lt"/>
              <a:buAutoNum type="arabicPeriod"/>
            </a:pPr>
            <a:r>
              <a:rPr lang="en-US" sz="2800" b="1" dirty="0">
                <a:latin typeface="Times New Roman" panose="02020603050405020304" pitchFamily="18" charset="0"/>
                <a:cs typeface="Times New Roman" panose="02020603050405020304" pitchFamily="18" charset="0"/>
              </a:rPr>
              <a:t>Admin Monitoring:</a:t>
            </a:r>
            <a:r>
              <a:rPr lang="en-US" sz="2800" dirty="0">
                <a:latin typeface="Times New Roman" panose="02020603050405020304" pitchFamily="18" charset="0"/>
                <a:cs typeface="Times New Roman" panose="02020603050405020304" pitchFamily="18" charset="0"/>
              </a:rPr>
              <a:t> Admin can monitor users, products, orders, and overall platform activities through a dashboard.</a:t>
            </a:r>
          </a:p>
          <a:p>
            <a:pPr marL="342900" indent="-342900">
              <a:buFont typeface="+mj-lt"/>
              <a:buAutoNum type="arabicPeriod"/>
            </a:pPr>
            <a:r>
              <a:rPr lang="en-US" sz="2800" b="1" dirty="0">
                <a:latin typeface="Times New Roman" panose="02020603050405020304" pitchFamily="18" charset="0"/>
                <a:cs typeface="Times New Roman" panose="02020603050405020304" pitchFamily="18" charset="0"/>
              </a:rPr>
              <a:t>Payment Facility:</a:t>
            </a:r>
            <a:r>
              <a:rPr lang="en-US" sz="2800" dirty="0">
                <a:latin typeface="Times New Roman" panose="02020603050405020304" pitchFamily="18" charset="0"/>
                <a:cs typeface="Times New Roman" panose="02020603050405020304" pitchFamily="18" charset="0"/>
              </a:rPr>
              <a:t> The platform supports </a:t>
            </a:r>
            <a:r>
              <a:rPr lang="en-US" sz="2800" dirty="0" err="1">
                <a:latin typeface="Times New Roman" panose="02020603050405020304" pitchFamily="18" charset="0"/>
                <a:cs typeface="Times New Roman" panose="02020603050405020304" pitchFamily="18" charset="0"/>
              </a:rPr>
              <a:t>Razorpay</a:t>
            </a:r>
            <a:r>
              <a:rPr lang="en-US" sz="2800" dirty="0">
                <a:latin typeface="Times New Roman" panose="02020603050405020304" pitchFamily="18" charset="0"/>
                <a:cs typeface="Times New Roman" panose="02020603050405020304" pitchFamily="18" charset="0"/>
              </a:rPr>
              <a:t> test-mode online payment and COD for flexible transaction handling.</a:t>
            </a:r>
          </a:p>
          <a:p>
            <a:pPr marL="514350" indent="-514350" algn="just">
              <a:buFont typeface="+mj-lt"/>
              <a:buAutoNum type="arabicPeriod" startAt="7"/>
            </a:pPr>
            <a:r>
              <a:rPr lang="en-US" sz="2800" b="1" dirty="0">
                <a:latin typeface="Times New Roman" panose="02020603050405020304" pitchFamily="18" charset="0"/>
                <a:cs typeface="Times New Roman" panose="02020603050405020304" pitchFamily="18" charset="0"/>
              </a:rPr>
              <a:t>Delivery Monitoring:</a:t>
            </a:r>
            <a:r>
              <a:rPr lang="en-US" sz="2800" dirty="0">
                <a:latin typeface="Times New Roman" panose="02020603050405020304" pitchFamily="18" charset="0"/>
                <a:cs typeface="Times New Roman" panose="02020603050405020304" pitchFamily="18" charset="0"/>
              </a:rPr>
              <a:t> GPS-based delivery simulation is used to represent product movement during the delivery phase</a:t>
            </a:r>
            <a:endParaRPr lang="en-US" sz="2800" b="1" dirty="0">
              <a:latin typeface="Times New Roman" panose="02020603050405020304" pitchFamily="18" charset="0"/>
              <a:cs typeface="Times New Roman" panose="02020603050405020304" pitchFamily="18" charset="0"/>
            </a:endParaRPr>
          </a:p>
          <a:p>
            <a:pPr marL="514350" indent="-514350" algn="just">
              <a:buFont typeface="+mj-lt"/>
              <a:buAutoNum type="arabicPeriod" startAt="7"/>
            </a:pPr>
            <a:r>
              <a:rPr lang="en-US" sz="2800" b="1" dirty="0">
                <a:latin typeface="Times New Roman" panose="02020603050405020304" pitchFamily="18" charset="0"/>
                <a:cs typeface="Times New Roman" panose="02020603050405020304" pitchFamily="18" charset="0"/>
              </a:rPr>
              <a:t>Role-Based Access:</a:t>
            </a:r>
            <a:r>
              <a:rPr lang="en-US" sz="2800" dirty="0">
                <a:latin typeface="Times New Roman" panose="02020603050405020304" pitchFamily="18" charset="0"/>
                <a:cs typeface="Times New Roman" panose="02020603050405020304" pitchFamily="18" charset="0"/>
              </a:rPr>
              <a:t> Separate access is provided for farmer, buyer, and admin with different functionalities.</a:t>
            </a:r>
          </a:p>
          <a:p>
            <a:endParaRPr lang="en-US" sz="28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
        <p:nvSpPr>
          <p:cNvPr id="15" name="Slide Number Placeholder 14">
            <a:extLst>
              <a:ext uri="{FF2B5EF4-FFF2-40B4-BE49-F238E27FC236}">
                <a16:creationId xmlns:a16="http://schemas.microsoft.com/office/drawing/2014/main" id="{558CE216-C4BF-9070-E3E1-8F20A450A103}"/>
              </a:ext>
            </a:extLst>
          </p:cNvPr>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626251" y="44758"/>
            <a:ext cx="13180039" cy="1152525"/>
          </a:xfrm>
          <a:prstGeom prst="rect">
            <a:avLst/>
          </a:prstGeom>
        </p:spPr>
        <p:txBody>
          <a:bodyPr lIns="0" tIns="0" rIns="0" bIns="0" rtlCol="0" anchor="t">
            <a:spAutoFit/>
          </a:bodyPr>
          <a:lstStyle/>
          <a:p>
            <a:pPr algn="ctr">
              <a:lnSpc>
                <a:spcPts val="8400"/>
              </a:lnSpc>
            </a:pPr>
            <a:r>
              <a:rPr lang="en-US" sz="6000" b="1">
                <a:solidFill>
                  <a:srgbClr val="000000"/>
                </a:solidFill>
                <a:latin typeface="Times New Roman Bold"/>
                <a:ea typeface="Times New Roman Bold"/>
                <a:cs typeface="Times New Roman Bold"/>
                <a:sym typeface="Times New Roman Bold"/>
              </a:rPr>
              <a:t>PROPOSED SYSTEM</a:t>
            </a:r>
          </a:p>
        </p:txBody>
      </p:sp>
      <p:grpSp>
        <p:nvGrpSpPr>
          <p:cNvPr id="3" name="Group 3"/>
          <p:cNvGrpSpPr/>
          <p:nvPr/>
        </p:nvGrpSpPr>
        <p:grpSpPr>
          <a:xfrm>
            <a:off x="-31071" y="0"/>
            <a:ext cx="2239285" cy="10287000"/>
            <a:chOff x="0" y="0"/>
            <a:chExt cx="2985713" cy="13716000"/>
          </a:xfrm>
        </p:grpSpPr>
        <p:grpSp>
          <p:nvGrpSpPr>
            <p:cNvPr id="4" name="Group 4"/>
            <p:cNvGrpSpPr/>
            <p:nvPr/>
          </p:nvGrpSpPr>
          <p:grpSpPr>
            <a:xfrm>
              <a:off x="1492857" y="0"/>
              <a:ext cx="1492857" cy="13716000"/>
              <a:chOff x="0" y="0"/>
              <a:chExt cx="294885" cy="2709333"/>
            </a:xfrm>
          </p:grpSpPr>
          <p:sp>
            <p:nvSpPr>
              <p:cNvPr id="5" name="Freeform 5"/>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6" name="TextBox 6"/>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46428" y="0"/>
              <a:ext cx="1492857" cy="13716000"/>
              <a:chOff x="0" y="0"/>
              <a:chExt cx="294885" cy="2709333"/>
            </a:xfrm>
          </p:grpSpPr>
          <p:sp>
            <p:nvSpPr>
              <p:cNvPr id="8" name="Freeform 8"/>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9" name="TextBox 9"/>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1492857" cy="13716000"/>
              <a:chOff x="0" y="0"/>
              <a:chExt cx="294885" cy="2709333"/>
            </a:xfrm>
          </p:grpSpPr>
          <p:sp>
            <p:nvSpPr>
              <p:cNvPr id="11" name="Freeform 11"/>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2" name="TextBox 12"/>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5" name="Slide Number Placeholder 14">
            <a:extLst>
              <a:ext uri="{FF2B5EF4-FFF2-40B4-BE49-F238E27FC236}">
                <a16:creationId xmlns:a16="http://schemas.microsoft.com/office/drawing/2014/main" id="{C368222B-80DA-7808-429D-342EEF8693D0}"/>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
        <p:nvSpPr>
          <p:cNvPr id="18" name="TextBox 17">
            <a:extLst>
              <a:ext uri="{FF2B5EF4-FFF2-40B4-BE49-F238E27FC236}">
                <a16:creationId xmlns:a16="http://schemas.microsoft.com/office/drawing/2014/main" id="{7385D718-2131-DB84-E8C9-0873BD1F51EB}"/>
              </a:ext>
            </a:extLst>
          </p:cNvPr>
          <p:cNvSpPr txBox="1"/>
          <p:nvPr/>
        </p:nvSpPr>
        <p:spPr>
          <a:xfrm>
            <a:off x="2590800" y="1409700"/>
            <a:ext cx="14853530" cy="834074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Advantages of the Proposed System</a:t>
            </a:r>
          </a:p>
          <a:p>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Transparency:</a:t>
            </a:r>
            <a:r>
              <a:rPr lang="en-US" sz="2800" dirty="0">
                <a:latin typeface="Times New Roman" panose="02020603050405020304" pitchFamily="18" charset="0"/>
                <a:cs typeface="Times New Roman" panose="02020603050405020304" pitchFamily="18" charset="0"/>
              </a:rPr>
              <a:t> The platform improves visibility of product details, payments, and order status throughout the supply chain.</a:t>
            </a: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Traceability:</a:t>
            </a:r>
            <a:r>
              <a:rPr lang="en-US" sz="2800" dirty="0">
                <a:latin typeface="Times New Roman" panose="02020603050405020304" pitchFamily="18" charset="0"/>
                <a:cs typeface="Times New Roman" panose="02020603050405020304" pitchFamily="18" charset="0"/>
              </a:rPr>
              <a:t> Each product and order can be tracked from farm to buyer, improving trust and accountability.</a:t>
            </a: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Security:</a:t>
            </a:r>
            <a:r>
              <a:rPr lang="en-US" sz="2800" dirty="0">
                <a:latin typeface="Times New Roman" panose="02020603050405020304" pitchFamily="18" charset="0"/>
                <a:cs typeface="Times New Roman" panose="02020603050405020304" pitchFamily="18" charset="0"/>
              </a:rPr>
              <a:t> Blockchain provides tamper-proof storage of important transaction records and supply chain events.</a:t>
            </a: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Reduced Middlemen:</a:t>
            </a:r>
            <a:r>
              <a:rPr lang="en-US" sz="2800" dirty="0">
                <a:latin typeface="Times New Roman" panose="02020603050405020304" pitchFamily="18" charset="0"/>
                <a:cs typeface="Times New Roman" panose="02020603050405020304" pitchFamily="18" charset="0"/>
              </a:rPr>
              <a:t> Farmers can connect more directly with buyers, reducing dependency on intermediaries.</a:t>
            </a: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Better Trust:</a:t>
            </a:r>
            <a:r>
              <a:rPr lang="en-US" sz="2800" dirty="0">
                <a:latin typeface="Times New Roman" panose="02020603050405020304" pitchFamily="18" charset="0"/>
                <a:cs typeface="Times New Roman" panose="02020603050405020304" pitchFamily="18" charset="0"/>
              </a:rPr>
              <a:t> Buyers can verify product origin and progress, which increases confidence in the system.</a:t>
            </a: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Efficient Management:</a:t>
            </a:r>
            <a:r>
              <a:rPr lang="en-US" sz="2800" dirty="0">
                <a:latin typeface="Times New Roman" panose="02020603050405020304" pitchFamily="18" charset="0"/>
                <a:cs typeface="Times New Roman" panose="02020603050405020304" pitchFamily="18" charset="0"/>
              </a:rPr>
              <a:t> Digital records and automated workflows reduce manual errors and improve operational efficiency.</a:t>
            </a: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Improved Monitoring:</a:t>
            </a:r>
            <a:r>
              <a:rPr lang="en-US" sz="2800" dirty="0">
                <a:latin typeface="Times New Roman" panose="02020603050405020304" pitchFamily="18" charset="0"/>
                <a:cs typeface="Times New Roman" panose="02020603050405020304" pitchFamily="18" charset="0"/>
              </a:rPr>
              <a:t> Admin dashboards and tracking features help in better control of products and orders.</a:t>
            </a: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Modern Solution:</a:t>
            </a:r>
            <a:r>
              <a:rPr lang="en-US" sz="2800" dirty="0">
                <a:latin typeface="Times New Roman" panose="02020603050405020304" pitchFamily="18" charset="0"/>
                <a:cs typeface="Times New Roman" panose="02020603050405020304" pitchFamily="18" charset="0"/>
              </a:rPr>
              <a:t> The system combines web and blockchain technologies to create a smarter agricultural marketplace</a:t>
            </a:r>
          </a:p>
          <a:p>
            <a:pPr marL="457200" indent="-457200" algn="l">
              <a:buFont typeface="Arial" panose="020B0604020202020204" pitchFamily="34" charset="0"/>
              <a:buChar char="•"/>
            </a:pPr>
            <a:endParaRPr lang="en-US" sz="2800" b="0" i="0" dirty="0">
              <a:solidFill>
                <a:srgbClr val="B1B1B3"/>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2239285" cy="10287000"/>
            <a:chOff x="0" y="0"/>
            <a:chExt cx="2985713" cy="13716000"/>
          </a:xfrm>
        </p:grpSpPr>
        <p:grpSp>
          <p:nvGrpSpPr>
            <p:cNvPr id="3" name="Group 3"/>
            <p:cNvGrpSpPr/>
            <p:nvPr/>
          </p:nvGrpSpPr>
          <p:grpSpPr>
            <a:xfrm>
              <a:off x="1492857" y="0"/>
              <a:ext cx="1492857" cy="13716000"/>
              <a:chOff x="0" y="0"/>
              <a:chExt cx="294885" cy="2709333"/>
            </a:xfrm>
          </p:grpSpPr>
          <p:sp>
            <p:nvSpPr>
              <p:cNvPr id="4" name="Freeform 4"/>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746428" y="0"/>
              <a:ext cx="1492857" cy="13716000"/>
              <a:chOff x="0" y="0"/>
              <a:chExt cx="294885" cy="2709333"/>
            </a:xfrm>
          </p:grpSpPr>
          <p:sp>
            <p:nvSpPr>
              <p:cNvPr id="7" name="Freeform 7"/>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1492857" cy="13716000"/>
              <a:chOff x="0" y="0"/>
              <a:chExt cx="294885" cy="2709333"/>
            </a:xfrm>
          </p:grpSpPr>
          <p:sp>
            <p:nvSpPr>
              <p:cNvPr id="10" name="Freeform 10"/>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3" name="TextBox 13"/>
          <p:cNvSpPr txBox="1"/>
          <p:nvPr/>
        </p:nvSpPr>
        <p:spPr>
          <a:xfrm>
            <a:off x="3626251" y="44758"/>
            <a:ext cx="13180039" cy="1152525"/>
          </a:xfrm>
          <a:prstGeom prst="rect">
            <a:avLst/>
          </a:prstGeom>
        </p:spPr>
        <p:txBody>
          <a:bodyPr lIns="0" tIns="0" rIns="0" bIns="0" rtlCol="0" anchor="t">
            <a:spAutoFit/>
          </a:bodyPr>
          <a:lstStyle/>
          <a:p>
            <a:pPr algn="ctr">
              <a:lnSpc>
                <a:spcPts val="8400"/>
              </a:lnSpc>
            </a:pPr>
            <a:r>
              <a:rPr lang="en-US" sz="6000" b="1" dirty="0">
                <a:solidFill>
                  <a:srgbClr val="000000"/>
                </a:solidFill>
                <a:latin typeface="Times New Roman Bold"/>
                <a:ea typeface="Times New Roman Bold"/>
                <a:cs typeface="Times New Roman Bold"/>
                <a:sym typeface="Times New Roman Bold"/>
              </a:rPr>
              <a:t>ARCHITECTURE</a:t>
            </a:r>
          </a:p>
        </p:txBody>
      </p:sp>
      <p:pic>
        <p:nvPicPr>
          <p:cNvPr id="31" name="Picture 30">
            <a:extLst>
              <a:ext uri="{FF2B5EF4-FFF2-40B4-BE49-F238E27FC236}">
                <a16:creationId xmlns:a16="http://schemas.microsoft.com/office/drawing/2014/main" id="{D70AD51D-6760-9C97-916E-DECDB5618C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241" y="2019300"/>
            <a:ext cx="15473839" cy="52157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2239285" cy="10287000"/>
            <a:chOff x="0" y="0"/>
            <a:chExt cx="2985713" cy="13716000"/>
          </a:xfrm>
        </p:grpSpPr>
        <p:grpSp>
          <p:nvGrpSpPr>
            <p:cNvPr id="3" name="Group 3"/>
            <p:cNvGrpSpPr/>
            <p:nvPr/>
          </p:nvGrpSpPr>
          <p:grpSpPr>
            <a:xfrm>
              <a:off x="1492857" y="0"/>
              <a:ext cx="1492857" cy="13716000"/>
              <a:chOff x="0" y="0"/>
              <a:chExt cx="294885" cy="2709333"/>
            </a:xfrm>
          </p:grpSpPr>
          <p:sp>
            <p:nvSpPr>
              <p:cNvPr id="4" name="Freeform 4"/>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746428" y="0"/>
              <a:ext cx="1492857" cy="13716000"/>
              <a:chOff x="0" y="0"/>
              <a:chExt cx="294885" cy="2709333"/>
            </a:xfrm>
          </p:grpSpPr>
          <p:sp>
            <p:nvSpPr>
              <p:cNvPr id="7" name="Freeform 7"/>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1492857" cy="13716000"/>
              <a:chOff x="0" y="0"/>
              <a:chExt cx="294885" cy="2709333"/>
            </a:xfrm>
          </p:grpSpPr>
          <p:sp>
            <p:nvSpPr>
              <p:cNvPr id="10" name="Freeform 10"/>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3485382" y="342900"/>
            <a:ext cx="13682091" cy="750205"/>
          </a:xfrm>
          <a:prstGeom prst="rect">
            <a:avLst/>
          </a:prstGeom>
        </p:spPr>
        <p:txBody>
          <a:bodyPr wrap="square" lIns="0" tIns="0" rIns="0" bIns="0" rtlCol="0" anchor="t">
            <a:spAutoFit/>
          </a:bodyPr>
          <a:lstStyle/>
          <a:p>
            <a:pPr algn="ctr">
              <a:lnSpc>
                <a:spcPts val="6299"/>
              </a:lnSpc>
            </a:pPr>
            <a:r>
              <a:rPr lang="en-US" sz="4800" b="1" dirty="0">
                <a:solidFill>
                  <a:srgbClr val="000000"/>
                </a:solidFill>
                <a:latin typeface="Times New Roman Bold"/>
                <a:ea typeface="Times New Roman Bold"/>
                <a:cs typeface="Times New Roman Bold"/>
                <a:sym typeface="Times New Roman Bold"/>
              </a:rPr>
              <a:t>TOOLS AND SOFTWARE REQUIREMENTS</a:t>
            </a:r>
          </a:p>
        </p:txBody>
      </p:sp>
      <p:sp>
        <p:nvSpPr>
          <p:cNvPr id="13" name="TextBox 13"/>
          <p:cNvSpPr txBox="1"/>
          <p:nvPr/>
        </p:nvSpPr>
        <p:spPr>
          <a:xfrm>
            <a:off x="2566445" y="1116457"/>
            <a:ext cx="15519963" cy="8348439"/>
          </a:xfrm>
          <a:prstGeom prst="rect">
            <a:avLst/>
          </a:prstGeom>
        </p:spPr>
        <p:txBody>
          <a:bodyPr wrap="square" lIns="0" tIns="0" rIns="0" bIns="0" rtlCol="0" anchor="t">
            <a:spAutoFit/>
          </a:bodyPr>
          <a:lstStyle/>
          <a:p>
            <a:pPr algn="just">
              <a:lnSpc>
                <a:spcPts val="4900"/>
              </a:lnSpc>
              <a:spcBef>
                <a:spcPct val="0"/>
              </a:spcBef>
            </a:pPr>
            <a:endParaRPr lang="en-US" sz="3000" b="1" dirty="0">
              <a:solidFill>
                <a:srgbClr val="000000"/>
              </a:solidFill>
              <a:latin typeface="Times New Roman Bold"/>
              <a:ea typeface="Times New Roman Bold"/>
              <a:cs typeface="Times New Roman Bold"/>
              <a:sym typeface="Times New Roman Bold"/>
            </a:endParaRPr>
          </a:p>
          <a:p>
            <a:pPr algn="just">
              <a:lnSpc>
                <a:spcPts val="4900"/>
              </a:lnSpc>
              <a:spcBef>
                <a:spcPct val="0"/>
              </a:spcBef>
            </a:pPr>
            <a:r>
              <a:rPr lang="en-US" sz="3000" b="1" dirty="0">
                <a:solidFill>
                  <a:srgbClr val="000000"/>
                </a:solidFill>
                <a:latin typeface="Times New Roman Bold"/>
                <a:ea typeface="Times New Roman Bold"/>
                <a:cs typeface="Times New Roman Bold"/>
                <a:sym typeface="Times New Roman Bold"/>
              </a:rPr>
              <a:t>SOFTWARE  SPECIFICATIONS: </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Operating System</a:t>
            </a:r>
            <a:r>
              <a:rPr lang="en-IN" sz="3000" dirty="0">
                <a:latin typeface="Times New Roman" panose="02020603050405020304" pitchFamily="18" charset="0"/>
                <a:cs typeface="Times New Roman" panose="02020603050405020304" pitchFamily="18" charset="0"/>
              </a:rPr>
              <a:t>: Windows 10/11, Linux, or macOS</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Frontend</a:t>
            </a:r>
            <a:r>
              <a:rPr lang="en-IN" sz="3000" dirty="0">
                <a:latin typeface="Times New Roman" panose="02020603050405020304" pitchFamily="18" charset="0"/>
                <a:cs typeface="Times New Roman" panose="02020603050405020304" pitchFamily="18" charset="0"/>
              </a:rPr>
              <a:t>: React.js, Vite</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Backend</a:t>
            </a:r>
            <a:r>
              <a:rPr lang="en-IN" sz="3000" dirty="0">
                <a:latin typeface="Times New Roman" panose="02020603050405020304" pitchFamily="18" charset="0"/>
                <a:cs typeface="Times New Roman" panose="02020603050405020304" pitchFamily="18" charset="0"/>
              </a:rPr>
              <a:t>: Node.js, Express.js</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Database</a:t>
            </a:r>
            <a:r>
              <a:rPr lang="en-IN" sz="3000" dirty="0">
                <a:latin typeface="Times New Roman" panose="02020603050405020304" pitchFamily="18" charset="0"/>
                <a:cs typeface="Times New Roman" panose="02020603050405020304" pitchFamily="18" charset="0"/>
              </a:rPr>
              <a:t>: MongoDB</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Blockchain</a:t>
            </a:r>
            <a:r>
              <a:rPr lang="en-IN" sz="3000" dirty="0">
                <a:latin typeface="Times New Roman" panose="02020603050405020304" pitchFamily="18" charset="0"/>
                <a:cs typeface="Times New Roman" panose="02020603050405020304" pitchFamily="18" charset="0"/>
              </a:rPr>
              <a:t>: Solidity, Truffle, Ganache, Web3.js</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Programming Languages:  </a:t>
            </a:r>
            <a:r>
              <a:rPr lang="en-IN" sz="3000" dirty="0">
                <a:latin typeface="Times New Roman" panose="02020603050405020304" pitchFamily="18" charset="0"/>
                <a:cs typeface="Times New Roman" panose="02020603050405020304" pitchFamily="18" charset="0"/>
              </a:rPr>
              <a:t>JavaScript, Solidity, HTML, CSS</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Authentication</a:t>
            </a:r>
            <a:r>
              <a:rPr lang="en-IN" sz="3000" dirty="0">
                <a:latin typeface="Times New Roman" panose="02020603050405020304" pitchFamily="18" charset="0"/>
                <a:cs typeface="Times New Roman" panose="02020603050405020304" pitchFamily="18" charset="0"/>
              </a:rPr>
              <a:t>: JWT</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Payment Gateway:</a:t>
            </a:r>
            <a:r>
              <a:rPr lang="en-IN" sz="3000" dirty="0">
                <a:latin typeface="Times New Roman" panose="02020603050405020304" pitchFamily="18" charset="0"/>
                <a:cs typeface="Times New Roman" panose="02020603050405020304" pitchFamily="18" charset="0"/>
              </a:rPr>
              <a:t> </a:t>
            </a:r>
            <a:r>
              <a:rPr lang="en-IN" sz="3000" dirty="0" err="1">
                <a:latin typeface="Times New Roman" panose="02020603050405020304" pitchFamily="18" charset="0"/>
                <a:cs typeface="Times New Roman" panose="02020603050405020304" pitchFamily="18" charset="0"/>
              </a:rPr>
              <a:t>Razorpay</a:t>
            </a:r>
            <a:r>
              <a:rPr lang="en-IN" sz="3000" dirty="0">
                <a:latin typeface="Times New Roman" panose="02020603050405020304" pitchFamily="18" charset="0"/>
                <a:cs typeface="Times New Roman" panose="02020603050405020304" pitchFamily="18" charset="0"/>
              </a:rPr>
              <a:t> Test Mode</a:t>
            </a:r>
          </a:p>
          <a:p>
            <a:pPr algn="just">
              <a:lnSpc>
                <a:spcPts val="4900"/>
              </a:lnSpc>
            </a:pPr>
            <a:r>
              <a:rPr lang="en-US" sz="3000" b="1" dirty="0">
                <a:solidFill>
                  <a:srgbClr val="000000"/>
                </a:solidFill>
                <a:latin typeface="Times New Roman Bold"/>
                <a:ea typeface="Times New Roman Bold"/>
                <a:cs typeface="Times New Roman Bold"/>
                <a:sym typeface="Times New Roman Bold"/>
              </a:rPr>
              <a:t>TOOLS USED:</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Visual Studio Code </a:t>
            </a:r>
            <a:r>
              <a:rPr lang="en-IN" sz="3000" dirty="0">
                <a:latin typeface="Times New Roman" panose="02020603050405020304" pitchFamily="18" charset="0"/>
                <a:cs typeface="Times New Roman" panose="02020603050405020304" pitchFamily="18" charset="0"/>
              </a:rPr>
              <a:t>for development</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Git and GitHub </a:t>
            </a:r>
            <a:r>
              <a:rPr lang="en-IN" sz="3000" dirty="0">
                <a:latin typeface="Times New Roman" panose="02020603050405020304" pitchFamily="18" charset="0"/>
                <a:cs typeface="Times New Roman" panose="02020603050405020304" pitchFamily="18" charset="0"/>
              </a:rPr>
              <a:t>for version control</a:t>
            </a:r>
          </a:p>
          <a:p>
            <a:pPr marL="457200" indent="-457200">
              <a:buFont typeface="Arial" panose="020B0604020202020204" pitchFamily="34" charset="0"/>
              <a:buChar char="•"/>
            </a:pPr>
            <a:r>
              <a:rPr lang="en-IN" sz="3000" b="1" dirty="0" err="1">
                <a:latin typeface="Times New Roman" panose="02020603050405020304" pitchFamily="18" charset="0"/>
                <a:cs typeface="Times New Roman" panose="02020603050405020304" pitchFamily="18" charset="0"/>
              </a:rPr>
              <a:t>npm</a:t>
            </a:r>
            <a:r>
              <a:rPr lang="en-IN" sz="3000" dirty="0">
                <a:latin typeface="Times New Roman" panose="02020603050405020304" pitchFamily="18" charset="0"/>
                <a:cs typeface="Times New Roman" panose="02020603050405020304" pitchFamily="18" charset="0"/>
              </a:rPr>
              <a:t> for package management</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Ganache</a:t>
            </a:r>
            <a:r>
              <a:rPr lang="en-IN" sz="3000" dirty="0">
                <a:latin typeface="Times New Roman" panose="02020603050405020304" pitchFamily="18" charset="0"/>
                <a:cs typeface="Times New Roman" panose="02020603050405020304" pitchFamily="18" charset="0"/>
              </a:rPr>
              <a:t> for local blockchain environment</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Truffle</a:t>
            </a:r>
            <a:r>
              <a:rPr lang="en-IN" sz="3000" dirty="0">
                <a:latin typeface="Times New Roman" panose="02020603050405020304" pitchFamily="18" charset="0"/>
                <a:cs typeface="Times New Roman" panose="02020603050405020304" pitchFamily="18" charset="0"/>
              </a:rPr>
              <a:t> for smart contract deployment</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MongoDB Compass</a:t>
            </a:r>
            <a:r>
              <a:rPr lang="en-IN" sz="3000" dirty="0">
                <a:latin typeface="Times New Roman" panose="02020603050405020304" pitchFamily="18" charset="0"/>
                <a:cs typeface="Times New Roman" panose="02020603050405020304" pitchFamily="18" charset="0"/>
              </a:rPr>
              <a:t> for database management</a:t>
            </a:r>
          </a:p>
        </p:txBody>
      </p:sp>
      <p:sp>
        <p:nvSpPr>
          <p:cNvPr id="15" name="Slide Number Placeholder 14">
            <a:extLst>
              <a:ext uri="{FF2B5EF4-FFF2-40B4-BE49-F238E27FC236}">
                <a16:creationId xmlns:a16="http://schemas.microsoft.com/office/drawing/2014/main" id="{56BC911C-9F99-96B1-67CF-EDC2F5E91C02}"/>
              </a:ext>
            </a:extLst>
          </p:cNvPr>
          <p:cNvSpPr>
            <a:spLocks noGrp="1"/>
          </p:cNvSpPr>
          <p:nvPr>
            <p:ph type="sldNum" sz="quarter" idx="12"/>
          </p:nvPr>
        </p:nvSpPr>
        <p:spPr/>
        <p:txBody>
          <a:bodyPr/>
          <a:lstStyle/>
          <a:p>
            <a:fld id="{B6F15528-21DE-4FAA-801E-634DDDAF4B2B}"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2239285" cy="10287000"/>
            <a:chOff x="0" y="0"/>
            <a:chExt cx="2985713" cy="13716000"/>
          </a:xfrm>
        </p:grpSpPr>
        <p:grpSp>
          <p:nvGrpSpPr>
            <p:cNvPr id="3" name="Group 3"/>
            <p:cNvGrpSpPr/>
            <p:nvPr/>
          </p:nvGrpSpPr>
          <p:grpSpPr>
            <a:xfrm>
              <a:off x="1492857" y="0"/>
              <a:ext cx="1492857" cy="13716000"/>
              <a:chOff x="0" y="0"/>
              <a:chExt cx="294885" cy="2709333"/>
            </a:xfrm>
          </p:grpSpPr>
          <p:sp>
            <p:nvSpPr>
              <p:cNvPr id="4" name="Freeform 4"/>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746428" y="0"/>
              <a:ext cx="1492857" cy="13716000"/>
              <a:chOff x="0" y="0"/>
              <a:chExt cx="294885" cy="2709333"/>
            </a:xfrm>
          </p:grpSpPr>
          <p:sp>
            <p:nvSpPr>
              <p:cNvPr id="7" name="Freeform 7"/>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1492857" cy="13716000"/>
              <a:chOff x="0" y="0"/>
              <a:chExt cx="294885" cy="2709333"/>
            </a:xfrm>
          </p:grpSpPr>
          <p:sp>
            <p:nvSpPr>
              <p:cNvPr id="10" name="Freeform 10"/>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4131754" y="1257300"/>
            <a:ext cx="12691490" cy="807913"/>
          </a:xfrm>
          <a:prstGeom prst="rect">
            <a:avLst/>
          </a:prstGeom>
        </p:spPr>
        <p:txBody>
          <a:bodyPr wrap="square" lIns="0" tIns="0" rIns="0" bIns="0" rtlCol="0" anchor="t">
            <a:spAutoFit/>
          </a:bodyPr>
          <a:lstStyle/>
          <a:p>
            <a:pPr algn="ctr">
              <a:lnSpc>
                <a:spcPts val="6299"/>
              </a:lnSpc>
            </a:pPr>
            <a:r>
              <a:rPr lang="en-US" sz="5400" b="1" dirty="0">
                <a:solidFill>
                  <a:srgbClr val="000000"/>
                </a:solidFill>
                <a:latin typeface="Times New Roman Bold"/>
                <a:ea typeface="Times New Roman Bold"/>
                <a:cs typeface="Times New Roman Bold"/>
                <a:sym typeface="Times New Roman Bold"/>
              </a:rPr>
              <a:t>HARDWARE REQUIREMENTS</a:t>
            </a:r>
          </a:p>
        </p:txBody>
      </p:sp>
      <p:sp>
        <p:nvSpPr>
          <p:cNvPr id="13" name="TextBox 13"/>
          <p:cNvSpPr txBox="1"/>
          <p:nvPr/>
        </p:nvSpPr>
        <p:spPr>
          <a:xfrm>
            <a:off x="2666999" y="3081681"/>
            <a:ext cx="15620999" cy="3942811"/>
          </a:xfrm>
          <a:prstGeom prst="rect">
            <a:avLst/>
          </a:prstGeom>
        </p:spPr>
        <p:txBody>
          <a:bodyPr wrap="square" lIns="0" tIns="0" rIns="0" bIns="0" rtlCol="0" anchor="t">
            <a:spAutoFit/>
          </a:bodyPr>
          <a:lstStyle/>
          <a:p>
            <a:pPr marL="457200" indent="-457200">
              <a:lnSpc>
                <a:spcPct val="150000"/>
              </a:lnSpc>
              <a:buFont typeface="Arial" panose="020B0604020202020204" pitchFamily="34" charset="0"/>
              <a:buChar char="•"/>
            </a:pPr>
            <a:r>
              <a:rPr lang="en-IN" sz="3500" b="1" dirty="0">
                <a:latin typeface="Times New Roman" panose="02020603050405020304" pitchFamily="18" charset="0"/>
                <a:cs typeface="Times New Roman" panose="02020603050405020304" pitchFamily="18" charset="0"/>
              </a:rPr>
              <a:t>Processor</a:t>
            </a:r>
            <a:r>
              <a:rPr lang="en-IN" sz="3500" dirty="0">
                <a:latin typeface="Times New Roman" panose="02020603050405020304" pitchFamily="18" charset="0"/>
                <a:cs typeface="Times New Roman" panose="02020603050405020304" pitchFamily="18" charset="0"/>
              </a:rPr>
              <a:t>: Intel i3 or above</a:t>
            </a:r>
          </a:p>
          <a:p>
            <a:pPr marL="457200" indent="-457200">
              <a:lnSpc>
                <a:spcPct val="150000"/>
              </a:lnSpc>
              <a:buFont typeface="Arial" panose="020B0604020202020204" pitchFamily="34" charset="0"/>
              <a:buChar char="•"/>
            </a:pPr>
            <a:r>
              <a:rPr lang="en-IN" sz="3500" b="1" dirty="0">
                <a:latin typeface="Times New Roman" panose="02020603050405020304" pitchFamily="18" charset="0"/>
                <a:cs typeface="Times New Roman" panose="02020603050405020304" pitchFamily="18" charset="0"/>
              </a:rPr>
              <a:t>RAM</a:t>
            </a:r>
            <a:r>
              <a:rPr lang="en-IN" sz="3500" dirty="0">
                <a:latin typeface="Times New Roman" panose="02020603050405020304" pitchFamily="18" charset="0"/>
                <a:cs typeface="Times New Roman" panose="02020603050405020304" pitchFamily="18" charset="0"/>
              </a:rPr>
              <a:t>: Minimum 4 GB, recommended 8 GB</a:t>
            </a:r>
          </a:p>
          <a:p>
            <a:pPr marL="457200" indent="-457200">
              <a:lnSpc>
                <a:spcPct val="150000"/>
              </a:lnSpc>
              <a:buFont typeface="Arial" panose="020B0604020202020204" pitchFamily="34" charset="0"/>
              <a:buChar char="•"/>
            </a:pPr>
            <a:r>
              <a:rPr lang="en-IN" sz="3500" b="1" dirty="0">
                <a:latin typeface="Times New Roman" panose="02020603050405020304" pitchFamily="18" charset="0"/>
                <a:cs typeface="Times New Roman" panose="02020603050405020304" pitchFamily="18" charset="0"/>
              </a:rPr>
              <a:t>Storage</a:t>
            </a:r>
            <a:r>
              <a:rPr lang="en-IN" sz="3500" dirty="0">
                <a:latin typeface="Times New Roman" panose="02020603050405020304" pitchFamily="18" charset="0"/>
                <a:cs typeface="Times New Roman" panose="02020603050405020304" pitchFamily="18" charset="0"/>
              </a:rPr>
              <a:t>: Minimum 20 GB free space</a:t>
            </a:r>
          </a:p>
          <a:p>
            <a:pPr marL="457200" indent="-457200">
              <a:lnSpc>
                <a:spcPct val="150000"/>
              </a:lnSpc>
              <a:buFont typeface="Arial" panose="020B0604020202020204" pitchFamily="34" charset="0"/>
              <a:buChar char="•"/>
            </a:pPr>
            <a:r>
              <a:rPr lang="en-IN" sz="3500" b="1" dirty="0">
                <a:latin typeface="Times New Roman" panose="02020603050405020304" pitchFamily="18" charset="0"/>
                <a:cs typeface="Times New Roman" panose="02020603050405020304" pitchFamily="18" charset="0"/>
              </a:rPr>
              <a:t>System Type</a:t>
            </a:r>
            <a:r>
              <a:rPr lang="en-IN" sz="3500" dirty="0">
                <a:latin typeface="Times New Roman" panose="02020603050405020304" pitchFamily="18" charset="0"/>
                <a:cs typeface="Times New Roman" panose="02020603050405020304" pitchFamily="18" charset="0"/>
              </a:rPr>
              <a:t>: 64-bit computer/laptop</a:t>
            </a:r>
          </a:p>
          <a:p>
            <a:pPr marL="457200" indent="-457200">
              <a:lnSpc>
                <a:spcPct val="150000"/>
              </a:lnSpc>
              <a:buFont typeface="Arial" panose="020B0604020202020204" pitchFamily="34" charset="0"/>
              <a:buChar char="•"/>
            </a:pPr>
            <a:r>
              <a:rPr lang="en-IN" sz="3500" b="1" dirty="0">
                <a:latin typeface="Times New Roman" panose="02020603050405020304" pitchFamily="18" charset="0"/>
                <a:cs typeface="Times New Roman" panose="02020603050405020304" pitchFamily="18" charset="0"/>
              </a:rPr>
              <a:t>Internet</a:t>
            </a:r>
            <a:r>
              <a:rPr lang="en-IN" sz="3500" dirty="0">
                <a:latin typeface="Times New Roman" panose="02020603050405020304" pitchFamily="18" charset="0"/>
                <a:cs typeface="Times New Roman" panose="02020603050405020304" pitchFamily="18" charset="0"/>
              </a:rPr>
              <a:t>: Required for package installation and payment API testing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626250" y="-22860"/>
            <a:ext cx="13180039" cy="1152525"/>
          </a:xfrm>
          <a:prstGeom prst="rect">
            <a:avLst/>
          </a:prstGeom>
        </p:spPr>
        <p:txBody>
          <a:bodyPr lIns="0" tIns="0" rIns="0" bIns="0" rtlCol="0" anchor="t">
            <a:spAutoFit/>
          </a:bodyPr>
          <a:lstStyle/>
          <a:p>
            <a:pPr algn="ctr">
              <a:lnSpc>
                <a:spcPts val="8400"/>
              </a:lnSpc>
            </a:pPr>
            <a:r>
              <a:rPr lang="en-US" sz="6000" b="1" dirty="0">
                <a:solidFill>
                  <a:srgbClr val="000000"/>
                </a:solidFill>
                <a:latin typeface="Times New Roman Bold"/>
                <a:ea typeface="Times New Roman Bold"/>
                <a:cs typeface="Times New Roman Bold"/>
                <a:sym typeface="Times New Roman Bold"/>
              </a:rPr>
              <a:t>IMPLEMENTATION</a:t>
            </a:r>
          </a:p>
        </p:txBody>
      </p:sp>
      <p:grpSp>
        <p:nvGrpSpPr>
          <p:cNvPr id="3" name="Group 3"/>
          <p:cNvGrpSpPr/>
          <p:nvPr/>
        </p:nvGrpSpPr>
        <p:grpSpPr>
          <a:xfrm>
            <a:off x="-31071" y="0"/>
            <a:ext cx="2239285" cy="10287000"/>
            <a:chOff x="0" y="0"/>
            <a:chExt cx="2985713" cy="13716000"/>
          </a:xfrm>
        </p:grpSpPr>
        <p:grpSp>
          <p:nvGrpSpPr>
            <p:cNvPr id="4" name="Group 4"/>
            <p:cNvGrpSpPr/>
            <p:nvPr/>
          </p:nvGrpSpPr>
          <p:grpSpPr>
            <a:xfrm>
              <a:off x="1492857" y="0"/>
              <a:ext cx="1492857" cy="13716000"/>
              <a:chOff x="0" y="0"/>
              <a:chExt cx="294885" cy="2709333"/>
            </a:xfrm>
          </p:grpSpPr>
          <p:sp>
            <p:nvSpPr>
              <p:cNvPr id="5" name="Freeform 5"/>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6" name="TextBox 6"/>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46428" y="0"/>
              <a:ext cx="1492857" cy="13716000"/>
              <a:chOff x="0" y="0"/>
              <a:chExt cx="294885" cy="2709333"/>
            </a:xfrm>
          </p:grpSpPr>
          <p:sp>
            <p:nvSpPr>
              <p:cNvPr id="8" name="Freeform 8"/>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9" name="TextBox 9"/>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1492857" cy="13716000"/>
              <a:chOff x="0" y="0"/>
              <a:chExt cx="294885" cy="2709333"/>
            </a:xfrm>
          </p:grpSpPr>
          <p:sp>
            <p:nvSpPr>
              <p:cNvPr id="11" name="Freeform 11"/>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2" name="TextBox 12"/>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3" name="TextBox 13"/>
          <p:cNvSpPr txBox="1"/>
          <p:nvPr/>
        </p:nvSpPr>
        <p:spPr>
          <a:xfrm>
            <a:off x="2389586" y="1106805"/>
            <a:ext cx="15653366" cy="8863965"/>
          </a:xfrm>
          <a:prstGeom prst="rect">
            <a:avLst/>
          </a:prstGeom>
        </p:spPr>
        <p:txBody>
          <a:bodyPr lIns="0" tIns="0" rIns="0" bIns="0" rtlCol="0" anchor="t">
            <a:spAutoFit/>
          </a:bodyPr>
          <a:lstStyle/>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Frontend Module:</a:t>
            </a:r>
            <a:r>
              <a:rPr lang="en-US" sz="3200" dirty="0">
                <a:latin typeface="Times New Roman" panose="02020603050405020304" pitchFamily="18" charset="0"/>
                <a:cs typeface="Times New Roman" panose="02020603050405020304" pitchFamily="18" charset="0"/>
              </a:rPr>
              <a:t> The user interface is developed using React.js to provide separate dashboards for farmer, buyer, and admin . It enables product browsing, order placement, profile management, and tracking features.</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Backend Module:</a:t>
            </a:r>
            <a:r>
              <a:rPr lang="en-US" sz="3200" dirty="0">
                <a:latin typeface="Times New Roman" panose="02020603050405020304" pitchFamily="18" charset="0"/>
                <a:cs typeface="Times New Roman" panose="02020603050405020304" pitchFamily="18" charset="0"/>
              </a:rPr>
              <a:t> The backend is implemented using Node.js and Express.js to manage APIs and business </a:t>
            </a:r>
            <a:r>
              <a:rPr lang="en-US" sz="3200" dirty="0" err="1">
                <a:latin typeface="Times New Roman" panose="02020603050405020304" pitchFamily="18" charset="0"/>
                <a:cs typeface="Times New Roman" panose="02020603050405020304" pitchFamily="18" charset="0"/>
              </a:rPr>
              <a:t>logic.It</a:t>
            </a:r>
            <a:r>
              <a:rPr lang="en-US" sz="3200" dirty="0">
                <a:latin typeface="Times New Roman" panose="02020603050405020304" pitchFamily="18" charset="0"/>
                <a:cs typeface="Times New Roman" panose="02020603050405020304" pitchFamily="18" charset="0"/>
              </a:rPr>
              <a:t> handles authentication, product operations, order processing, and communication with other modules.</a:t>
            </a:r>
          </a:p>
          <a:p>
            <a:pPr marL="285750" indent="-28575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Database Management:</a:t>
            </a:r>
            <a:r>
              <a:rPr lang="en-US" sz="3200" dirty="0">
                <a:latin typeface="Times New Roman" panose="02020603050405020304" pitchFamily="18" charset="0"/>
                <a:cs typeface="Times New Roman" panose="02020603050405020304" pitchFamily="18" charset="0"/>
              </a:rPr>
              <a:t> MongoDB is used to store user details, product records, orders, and delivery information. It provides flexible and efficient data storage for managing the complete application workflow.</a:t>
            </a:r>
          </a:p>
          <a:p>
            <a:pPr marL="285750" indent="-28575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Authentication System:</a:t>
            </a:r>
            <a:r>
              <a:rPr lang="en-US" sz="3200" dirty="0">
                <a:latin typeface="Times New Roman" panose="02020603050405020304" pitchFamily="18" charset="0"/>
                <a:cs typeface="Times New Roman" panose="02020603050405020304" pitchFamily="18" charset="0"/>
              </a:rPr>
              <a:t> JWT authentication is implemented to provide secure login and role-based authorization. This ensures that each user accesses only the features allowed for their role in the system.</a:t>
            </a:r>
          </a:p>
          <a:p>
            <a:pPr marL="285750" indent="-28575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User Role Handling:</a:t>
            </a:r>
            <a:r>
              <a:rPr lang="en-US" sz="3200" dirty="0">
                <a:latin typeface="Times New Roman" panose="02020603050405020304" pitchFamily="18" charset="0"/>
                <a:cs typeface="Times New Roman" panose="02020603050405020304" pitchFamily="18" charset="0"/>
              </a:rPr>
              <a:t> The platform supports three main roles: farmer, buyer, and admin.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Each role is provided with dedicated functions to improve usability and system management.</a:t>
            </a:r>
          </a:p>
        </p:txBody>
      </p:sp>
      <p:sp>
        <p:nvSpPr>
          <p:cNvPr id="15" name="Slide Number Placeholder 14">
            <a:extLst>
              <a:ext uri="{FF2B5EF4-FFF2-40B4-BE49-F238E27FC236}">
                <a16:creationId xmlns:a16="http://schemas.microsoft.com/office/drawing/2014/main" id="{ADF691B4-21B0-04FD-515E-0D5660DD7E30}"/>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581400" y="38100"/>
            <a:ext cx="13180039" cy="1152525"/>
          </a:xfrm>
          <a:prstGeom prst="rect">
            <a:avLst/>
          </a:prstGeom>
        </p:spPr>
        <p:txBody>
          <a:bodyPr lIns="0" tIns="0" rIns="0" bIns="0" rtlCol="0" anchor="t">
            <a:spAutoFit/>
          </a:bodyPr>
          <a:lstStyle/>
          <a:p>
            <a:pPr algn="ctr">
              <a:lnSpc>
                <a:spcPts val="8400"/>
              </a:lnSpc>
            </a:pPr>
            <a:r>
              <a:rPr lang="en-US" sz="6000" b="1">
                <a:solidFill>
                  <a:srgbClr val="000000"/>
                </a:solidFill>
                <a:latin typeface="Times New Roman Bold"/>
                <a:ea typeface="Times New Roman Bold"/>
                <a:cs typeface="Times New Roman Bold"/>
                <a:sym typeface="Times New Roman Bold"/>
              </a:rPr>
              <a:t>IMPLEMENTATION</a:t>
            </a:r>
          </a:p>
        </p:txBody>
      </p:sp>
      <p:grpSp>
        <p:nvGrpSpPr>
          <p:cNvPr id="3" name="Group 3"/>
          <p:cNvGrpSpPr/>
          <p:nvPr/>
        </p:nvGrpSpPr>
        <p:grpSpPr>
          <a:xfrm>
            <a:off x="-31071" y="0"/>
            <a:ext cx="2239285" cy="10287000"/>
            <a:chOff x="0" y="0"/>
            <a:chExt cx="2985713" cy="13716000"/>
          </a:xfrm>
        </p:grpSpPr>
        <p:grpSp>
          <p:nvGrpSpPr>
            <p:cNvPr id="4" name="Group 4"/>
            <p:cNvGrpSpPr/>
            <p:nvPr/>
          </p:nvGrpSpPr>
          <p:grpSpPr>
            <a:xfrm>
              <a:off x="1492857" y="0"/>
              <a:ext cx="1492857" cy="13716000"/>
              <a:chOff x="0" y="0"/>
              <a:chExt cx="294885" cy="2709333"/>
            </a:xfrm>
          </p:grpSpPr>
          <p:sp>
            <p:nvSpPr>
              <p:cNvPr id="5" name="Freeform 5"/>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6" name="TextBox 6"/>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46428" y="0"/>
              <a:ext cx="1492857" cy="13716000"/>
              <a:chOff x="0" y="0"/>
              <a:chExt cx="294885" cy="2709333"/>
            </a:xfrm>
          </p:grpSpPr>
          <p:sp>
            <p:nvSpPr>
              <p:cNvPr id="8" name="Freeform 8"/>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9" name="TextBox 9"/>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1492857" cy="13716000"/>
              <a:chOff x="0" y="0"/>
              <a:chExt cx="294885" cy="2709333"/>
            </a:xfrm>
          </p:grpSpPr>
          <p:sp>
            <p:nvSpPr>
              <p:cNvPr id="11" name="Freeform 11"/>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2" name="TextBox 12"/>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3" name="TextBox 13"/>
          <p:cNvSpPr txBox="1"/>
          <p:nvPr/>
        </p:nvSpPr>
        <p:spPr>
          <a:xfrm>
            <a:off x="1905000" y="1167765"/>
            <a:ext cx="16154400" cy="8771632"/>
          </a:xfrm>
          <a:prstGeom prst="rect">
            <a:avLst/>
          </a:prstGeom>
        </p:spPr>
        <p:txBody>
          <a:bodyPr wrap="square" lIns="0" tIns="0" rIns="0" bIns="0" rtlCol="0" anchor="t">
            <a:spAutoFit/>
          </a:bodyPr>
          <a:lstStyle/>
          <a:p>
            <a:pPr marL="742950" lvl="1" indent="-28575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Blockchain Integration:</a:t>
            </a:r>
            <a:r>
              <a:rPr lang="en-US" sz="3000" dirty="0">
                <a:latin typeface="Times New Roman" panose="02020603050405020304" pitchFamily="18" charset="0"/>
                <a:cs typeface="Times New Roman" panose="02020603050405020304" pitchFamily="18" charset="0"/>
              </a:rPr>
              <a:t> Solidity smart contracts are used to record major supply chain events securely on blockchain. This improves transparency and creates tamper-proof records for agricultural transactions.</a:t>
            </a:r>
          </a:p>
          <a:p>
            <a:pPr lvl="1"/>
            <a:endParaRPr lang="en-US" sz="3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Product and Order Recording:</a:t>
            </a:r>
            <a:r>
              <a:rPr lang="en-US" sz="3000" dirty="0">
                <a:latin typeface="Times New Roman" panose="02020603050405020304" pitchFamily="18" charset="0"/>
                <a:cs typeface="Times New Roman" panose="02020603050405020304" pitchFamily="18" charset="0"/>
              </a:rPr>
              <a:t> When products are added or orders are placed, the details are saved in MongoDB and blockchain. This helps maintain both application data and secure proof of each important activity.</a:t>
            </a:r>
          </a:p>
          <a:p>
            <a:pPr marL="742950" lvl="1" indent="-285750">
              <a:buFont typeface="Arial" panose="020B0604020202020204" pitchFamily="34" charset="0"/>
              <a:buChar char="•"/>
            </a:pPr>
            <a:endParaRPr lang="en-US" sz="3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Payment Implementation:</a:t>
            </a:r>
            <a:r>
              <a:rPr lang="en-US" sz="3000" dirty="0">
                <a:latin typeface="Times New Roman" panose="02020603050405020304" pitchFamily="18" charset="0"/>
                <a:cs typeface="Times New Roman" panose="02020603050405020304" pitchFamily="18" charset="0"/>
              </a:rPr>
              <a:t> The system supports </a:t>
            </a:r>
            <a:r>
              <a:rPr lang="en-US" sz="3000" dirty="0" err="1">
                <a:latin typeface="Times New Roman" panose="02020603050405020304" pitchFamily="18" charset="0"/>
                <a:cs typeface="Times New Roman" panose="02020603050405020304" pitchFamily="18" charset="0"/>
              </a:rPr>
              <a:t>Razorpay</a:t>
            </a:r>
            <a:r>
              <a:rPr lang="en-US" sz="3000" dirty="0">
                <a:latin typeface="Times New Roman" panose="02020603050405020304" pitchFamily="18" charset="0"/>
                <a:cs typeface="Times New Roman" panose="02020603050405020304" pitchFamily="18" charset="0"/>
              </a:rPr>
              <a:t> test-mode payments as well as Cash on Delivery options. Payment updates are processed through the backend and linked with order records for verification.</a:t>
            </a:r>
          </a:p>
          <a:p>
            <a:pPr marL="742950" lvl="1" indent="-285750">
              <a:buFont typeface="Arial" panose="020B0604020202020204" pitchFamily="34" charset="0"/>
              <a:buChar char="•"/>
            </a:pPr>
            <a:endParaRPr lang="en-US" sz="3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Tracking Mechanism:</a:t>
            </a:r>
            <a:r>
              <a:rPr lang="en-US" sz="3000" dirty="0">
                <a:latin typeface="Times New Roman" panose="02020603050405020304" pitchFamily="18" charset="0"/>
                <a:cs typeface="Times New Roman" panose="02020603050405020304" pitchFamily="18" charset="0"/>
              </a:rPr>
              <a:t> A public order tracking module is implemented to help users monitor order progress easily. GPS simulation is used to represent delivery movement during the transportation stage.</a:t>
            </a:r>
          </a:p>
          <a:p>
            <a:pPr marL="742950" lvl="1" indent="-285750">
              <a:buFont typeface="Arial" panose="020B0604020202020204" pitchFamily="34" charset="0"/>
              <a:buChar char="•"/>
            </a:pPr>
            <a:endParaRPr lang="en-US" sz="3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Admin Monitoring:</a:t>
            </a:r>
            <a:r>
              <a:rPr lang="en-US" sz="3000" dirty="0">
                <a:latin typeface="Times New Roman" panose="02020603050405020304" pitchFamily="18" charset="0"/>
                <a:cs typeface="Times New Roman" panose="02020603050405020304" pitchFamily="18" charset="0"/>
              </a:rPr>
              <a:t> The admin dashboard is implemented to supervise users, products, and order activities. It helps in monitoring platform performance and maintaining better control over the entire system.</a:t>
            </a:r>
          </a:p>
        </p:txBody>
      </p:sp>
      <p:sp>
        <p:nvSpPr>
          <p:cNvPr id="15" name="Slide Number Placeholder 14">
            <a:extLst>
              <a:ext uri="{FF2B5EF4-FFF2-40B4-BE49-F238E27FC236}">
                <a16:creationId xmlns:a16="http://schemas.microsoft.com/office/drawing/2014/main" id="{3C0E6F0C-4B1C-839C-B0C3-954B786D169D}"/>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2239285" cy="10287000"/>
            <a:chOff x="0" y="0"/>
            <a:chExt cx="2985713" cy="13716000"/>
          </a:xfrm>
        </p:grpSpPr>
        <p:grpSp>
          <p:nvGrpSpPr>
            <p:cNvPr id="3" name="Group 3"/>
            <p:cNvGrpSpPr/>
            <p:nvPr/>
          </p:nvGrpSpPr>
          <p:grpSpPr>
            <a:xfrm>
              <a:off x="1492857" y="0"/>
              <a:ext cx="1492857" cy="13716000"/>
              <a:chOff x="0" y="0"/>
              <a:chExt cx="294885" cy="2709333"/>
            </a:xfrm>
          </p:grpSpPr>
          <p:sp>
            <p:nvSpPr>
              <p:cNvPr id="4" name="Freeform 4"/>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746428" y="0"/>
              <a:ext cx="1492857" cy="13716000"/>
              <a:chOff x="0" y="0"/>
              <a:chExt cx="294885" cy="2709333"/>
            </a:xfrm>
          </p:grpSpPr>
          <p:sp>
            <p:nvSpPr>
              <p:cNvPr id="7" name="Freeform 7"/>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1492857" cy="13716000"/>
              <a:chOff x="0" y="0"/>
              <a:chExt cx="294885" cy="2709333"/>
            </a:xfrm>
          </p:grpSpPr>
          <p:sp>
            <p:nvSpPr>
              <p:cNvPr id="10" name="Freeform 10"/>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2427688" y="1468755"/>
            <a:ext cx="15631712" cy="8371523"/>
          </a:xfrm>
          <a:prstGeom prst="rect">
            <a:avLst/>
          </a:prstGeom>
        </p:spPr>
        <p:txBody>
          <a:bodyPr wrap="square" lIns="0" tIns="0" rIns="0" bIns="0" rtlCol="0" anchor="t">
            <a:spAutoFit/>
          </a:bodyPr>
          <a:lstStyle/>
          <a:p>
            <a:pPr marL="285750" indent="-285750" algn="just">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Password Hashing Algorithm: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bcrypt</a:t>
            </a:r>
            <a:r>
              <a:rPr lang="en-US" sz="3200" dirty="0">
                <a:latin typeface="Times New Roman" panose="02020603050405020304" pitchFamily="18" charset="0"/>
                <a:cs typeface="Times New Roman" panose="02020603050405020304" pitchFamily="18" charset="0"/>
              </a:rPr>
              <a:t> is used to encrypt user passwords before storing them in the database, which improves login security.</a:t>
            </a:r>
          </a:p>
          <a:p>
            <a:pPr marL="285750" indent="-285750" algn="just">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JWT Authentication Logic:</a:t>
            </a:r>
            <a:r>
              <a:rPr lang="en-US" sz="3200" dirty="0">
                <a:latin typeface="Times New Roman" panose="02020603050405020304" pitchFamily="18" charset="0"/>
                <a:cs typeface="Times New Roman" panose="02020603050405020304" pitchFamily="18" charset="0"/>
              </a:rPr>
              <a:t> JSON Web Tokens are generated for secure user authentication and role-based access control.</a:t>
            </a:r>
          </a:p>
          <a:p>
            <a:pPr marL="285750" indent="-285750" algn="just">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Order Number Generation Algorithm:</a:t>
            </a:r>
            <a:r>
              <a:rPr lang="en-US" sz="3200" dirty="0">
                <a:latin typeface="Times New Roman" panose="02020603050405020304" pitchFamily="18" charset="0"/>
                <a:cs typeface="Times New Roman" panose="02020603050405020304" pitchFamily="18" charset="0"/>
              </a:rPr>
              <a:t> A sequential format like ORD-0001, ORD-0002 is created using document count and zero-padding.</a:t>
            </a:r>
          </a:p>
          <a:p>
            <a:pPr marL="285750" indent="-285750" algn="just">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Batch Code Generation Algorithm:</a:t>
            </a:r>
            <a:r>
              <a:rPr lang="en-US" sz="3200" dirty="0">
                <a:latin typeface="Times New Roman" panose="02020603050405020304" pitchFamily="18" charset="0"/>
                <a:cs typeface="Times New Roman" panose="02020603050405020304" pitchFamily="18" charset="0"/>
              </a:rPr>
              <a:t> Product batch codes are generated using product name prefix, current date, and a random alphanumeric value.</a:t>
            </a:r>
          </a:p>
          <a:p>
            <a:pPr marL="285750" indent="-285750" algn="just">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Payment Reference Generation Algorithm:</a:t>
            </a:r>
            <a:r>
              <a:rPr lang="en-US" sz="3200" dirty="0">
                <a:latin typeface="Times New Roman" panose="02020603050405020304" pitchFamily="18" charset="0"/>
                <a:cs typeface="Times New Roman" panose="02020603050405020304" pitchFamily="18" charset="0"/>
              </a:rPr>
              <a:t> Unique payment IDs are created using payment mode, order number, timestamp, and retry count.</a:t>
            </a:r>
          </a:p>
          <a:p>
            <a:pPr marL="285750" indent="-285750" algn="just">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Blockchain Status Mapping Logic:</a:t>
            </a:r>
            <a:r>
              <a:rPr lang="en-US" sz="3200" dirty="0">
                <a:latin typeface="Times New Roman" panose="02020603050405020304" pitchFamily="18" charset="0"/>
                <a:cs typeface="Times New Roman" panose="02020603050405020304" pitchFamily="18" charset="0"/>
              </a:rPr>
              <a:t> Payment method, payment status, and order status are converted into smart contract </a:t>
            </a:r>
            <a:r>
              <a:rPr lang="en-US" sz="3200" dirty="0" err="1">
                <a:latin typeface="Times New Roman" panose="02020603050405020304" pitchFamily="18" charset="0"/>
                <a:cs typeface="Times New Roman" panose="02020603050405020304" pitchFamily="18" charset="0"/>
              </a:rPr>
              <a:t>enum</a:t>
            </a:r>
            <a:r>
              <a:rPr lang="en-US" sz="3200" dirty="0">
                <a:latin typeface="Times New Roman" panose="02020603050405020304" pitchFamily="18" charset="0"/>
                <a:cs typeface="Times New Roman" panose="02020603050405020304" pitchFamily="18" charset="0"/>
              </a:rPr>
              <a:t> values for blockchain recording.</a:t>
            </a:r>
          </a:p>
        </p:txBody>
      </p:sp>
      <p:sp>
        <p:nvSpPr>
          <p:cNvPr id="14" name="TextBox 14"/>
          <p:cNvSpPr txBox="1"/>
          <p:nvPr/>
        </p:nvSpPr>
        <p:spPr>
          <a:xfrm>
            <a:off x="3626251" y="333375"/>
            <a:ext cx="13180039" cy="1152525"/>
          </a:xfrm>
          <a:prstGeom prst="rect">
            <a:avLst/>
          </a:prstGeom>
        </p:spPr>
        <p:txBody>
          <a:bodyPr lIns="0" tIns="0" rIns="0" bIns="0" rtlCol="0" anchor="t">
            <a:spAutoFit/>
          </a:bodyPr>
          <a:lstStyle/>
          <a:p>
            <a:pPr algn="ctr">
              <a:lnSpc>
                <a:spcPts val="8400"/>
              </a:lnSpc>
            </a:pPr>
            <a:r>
              <a:rPr lang="en-US" sz="6000" b="1">
                <a:solidFill>
                  <a:srgbClr val="000000"/>
                </a:solidFill>
                <a:latin typeface="Times New Roman Bold"/>
                <a:ea typeface="Times New Roman Bold"/>
                <a:cs typeface="Times New Roman Bold"/>
                <a:sym typeface="Times New Roman Bold"/>
              </a:rPr>
              <a:t>ALGORITHM</a:t>
            </a:r>
          </a:p>
        </p:txBody>
      </p:sp>
      <p:sp>
        <p:nvSpPr>
          <p:cNvPr id="16" name="Slide Number Placeholder 15">
            <a:extLst>
              <a:ext uri="{FF2B5EF4-FFF2-40B4-BE49-F238E27FC236}">
                <a16:creationId xmlns:a16="http://schemas.microsoft.com/office/drawing/2014/main" id="{59D85ED5-8FA1-048C-6172-76A0B407940F}"/>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2239285" cy="10287000"/>
            <a:chOff x="0" y="0"/>
            <a:chExt cx="2985713" cy="13716000"/>
          </a:xfrm>
        </p:grpSpPr>
        <p:grpSp>
          <p:nvGrpSpPr>
            <p:cNvPr id="3" name="Group 3"/>
            <p:cNvGrpSpPr/>
            <p:nvPr/>
          </p:nvGrpSpPr>
          <p:grpSpPr>
            <a:xfrm>
              <a:off x="1492857" y="0"/>
              <a:ext cx="1492857" cy="13716000"/>
              <a:chOff x="0" y="0"/>
              <a:chExt cx="294885" cy="2709333"/>
            </a:xfrm>
          </p:grpSpPr>
          <p:sp>
            <p:nvSpPr>
              <p:cNvPr id="4" name="Freeform 4"/>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746428" y="0"/>
              <a:ext cx="1492857" cy="13716000"/>
              <a:chOff x="0" y="0"/>
              <a:chExt cx="294885" cy="2709333"/>
            </a:xfrm>
          </p:grpSpPr>
          <p:sp>
            <p:nvSpPr>
              <p:cNvPr id="7" name="Freeform 7"/>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1492857" cy="13716000"/>
              <a:chOff x="0" y="0"/>
              <a:chExt cx="294885" cy="2709333"/>
            </a:xfrm>
          </p:grpSpPr>
          <p:sp>
            <p:nvSpPr>
              <p:cNvPr id="10" name="Freeform 10"/>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2517073" y="153670"/>
            <a:ext cx="13180039" cy="958850"/>
          </a:xfrm>
          <a:prstGeom prst="rect">
            <a:avLst/>
          </a:prstGeom>
        </p:spPr>
        <p:txBody>
          <a:bodyPr lIns="0" tIns="0" rIns="0" bIns="0" rtlCol="0" anchor="t">
            <a:spAutoFit/>
          </a:bodyPr>
          <a:lstStyle/>
          <a:p>
            <a:pPr algn="just">
              <a:lnSpc>
                <a:spcPts val="7000"/>
              </a:lnSpc>
            </a:pPr>
            <a:r>
              <a:rPr lang="en-US" sz="5000" b="1" dirty="0">
                <a:solidFill>
                  <a:srgbClr val="000000"/>
                </a:solidFill>
                <a:latin typeface="Times New Roman Bold"/>
                <a:ea typeface="Times New Roman Bold"/>
                <a:cs typeface="Times New Roman Bold"/>
                <a:sym typeface="Times New Roman Bold"/>
              </a:rPr>
              <a:t>CODE: </a:t>
            </a:r>
          </a:p>
        </p:txBody>
      </p:sp>
      <p:sp>
        <p:nvSpPr>
          <p:cNvPr id="15" name="TextBox 14">
            <a:extLst>
              <a:ext uri="{FF2B5EF4-FFF2-40B4-BE49-F238E27FC236}">
                <a16:creationId xmlns:a16="http://schemas.microsoft.com/office/drawing/2014/main" id="{A171A2AA-519A-6F96-48B8-0E56AE183CDE}"/>
              </a:ext>
            </a:extLst>
          </p:cNvPr>
          <p:cNvSpPr txBox="1"/>
          <p:nvPr/>
        </p:nvSpPr>
        <p:spPr>
          <a:xfrm>
            <a:off x="2553980" y="1638300"/>
            <a:ext cx="9158748" cy="369332"/>
          </a:xfrm>
          <a:prstGeom prst="rect">
            <a:avLst/>
          </a:prstGeom>
          <a:noFill/>
        </p:spPr>
        <p:txBody>
          <a:bodyPr wrap="square">
            <a:spAutoFit/>
          </a:bodyPr>
          <a:lstStyle/>
          <a:p>
            <a:pPr algn="just" rtl="0">
              <a:buNone/>
            </a:pPr>
            <a:endParaRPr lang="en-US" dirty="0">
              <a:effectLst/>
              <a:latin typeface="Times New Roman" panose="02020603050405020304" pitchFamily="18" charset="0"/>
              <a:cs typeface="Times New Roman" panose="02020603050405020304" pitchFamily="18" charset="0"/>
            </a:endParaRPr>
          </a:p>
        </p:txBody>
      </p:sp>
      <p:sp>
        <p:nvSpPr>
          <p:cNvPr id="14" name="Slide Number Placeholder 13">
            <a:extLst>
              <a:ext uri="{FF2B5EF4-FFF2-40B4-BE49-F238E27FC236}">
                <a16:creationId xmlns:a16="http://schemas.microsoft.com/office/drawing/2014/main" id="{AE15057C-D22E-0E15-5D7A-04083BCBF076}"/>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16" name="TextBox 15">
            <a:extLst>
              <a:ext uri="{FF2B5EF4-FFF2-40B4-BE49-F238E27FC236}">
                <a16:creationId xmlns:a16="http://schemas.microsoft.com/office/drawing/2014/main" id="{A456D4E0-5FAF-FFE4-0737-C4FCDDE960AB}"/>
              </a:ext>
            </a:extLst>
          </p:cNvPr>
          <p:cNvSpPr txBox="1"/>
          <p:nvPr/>
        </p:nvSpPr>
        <p:spPr>
          <a:xfrm>
            <a:off x="2501833" y="1014829"/>
            <a:ext cx="9159240" cy="156966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 Smart Contract: Record Order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From </a:t>
            </a:r>
            <a:r>
              <a:rPr lang="en-US" dirty="0" err="1">
                <a:latin typeface="Times New Roman" panose="02020603050405020304" pitchFamily="18" charset="0"/>
                <a:cs typeface="Times New Roman" panose="02020603050405020304" pitchFamily="18" charset="0"/>
                <a:hlinkClick r:id="rId2"/>
              </a:rPr>
              <a:t>FarmSupplyChain.sol</a:t>
            </a:r>
            <a:endParaRPr lang="en-US" sz="2400" dirty="0">
              <a:latin typeface="Times New Roman" panose="02020603050405020304" pitchFamily="18" charset="0"/>
              <a:cs typeface="Times New Roman" panose="02020603050405020304" pitchFamily="18" charset="0"/>
            </a:endParaRPr>
          </a:p>
          <a:p>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5CB6A207-2D35-9087-9819-E95490E5C0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4069" y="1293346"/>
            <a:ext cx="11291862" cy="89473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98AD2967-D9B2-5064-74E8-D26721F409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E7082EB-D767-A5EF-378C-E9793357F901}"/>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EBE2198C-AC9F-0B6D-079A-E96D7F839509}"/>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81E65138-9BAE-852B-C7E0-C8D5EFDE2ECF}"/>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6FF37EFD-A95A-75A3-90B8-ED2023E7FDEB}"/>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8C6D69CF-5889-147D-F512-649C6D239A5E}"/>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AD4218F3-CBAB-C719-8351-356E58BF45F4}"/>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DDE79D59-C3DC-0C04-ABA7-AD76A1F59850}"/>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7273262A-9163-3735-613A-DF66CD01C52D}"/>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37D7C0C2-F8AD-68D8-2BD6-DAD989E8BB5E}"/>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D7195E59-886A-3263-AA83-546FDD61881F}"/>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5" name="TextBox 14">
            <a:extLst>
              <a:ext uri="{FF2B5EF4-FFF2-40B4-BE49-F238E27FC236}">
                <a16:creationId xmlns:a16="http://schemas.microsoft.com/office/drawing/2014/main" id="{594B326A-5508-F523-13D9-1C4286F2FC0A}"/>
              </a:ext>
            </a:extLst>
          </p:cNvPr>
          <p:cNvSpPr txBox="1"/>
          <p:nvPr/>
        </p:nvSpPr>
        <p:spPr>
          <a:xfrm>
            <a:off x="2553980" y="1638300"/>
            <a:ext cx="9158748" cy="369332"/>
          </a:xfrm>
          <a:prstGeom prst="rect">
            <a:avLst/>
          </a:prstGeom>
          <a:noFill/>
        </p:spPr>
        <p:txBody>
          <a:bodyPr wrap="square">
            <a:spAutoFit/>
          </a:bodyPr>
          <a:lstStyle/>
          <a:p>
            <a:pPr algn="just" rtl="0">
              <a:buNone/>
            </a:pPr>
            <a:endParaRPr lang="en-US" dirty="0">
              <a:effectLst/>
              <a:latin typeface="Times New Roman" panose="02020603050405020304" pitchFamily="18" charset="0"/>
              <a:cs typeface="Times New Roman" panose="02020603050405020304" pitchFamily="18" charset="0"/>
            </a:endParaRPr>
          </a:p>
        </p:txBody>
      </p:sp>
      <p:sp>
        <p:nvSpPr>
          <p:cNvPr id="12" name="Slide Number Placeholder 11">
            <a:extLst>
              <a:ext uri="{FF2B5EF4-FFF2-40B4-BE49-F238E27FC236}">
                <a16:creationId xmlns:a16="http://schemas.microsoft.com/office/drawing/2014/main" id="{680FEFBC-84D1-FAD7-57E6-7A80F8DD630C}"/>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16" name="TextBox 15">
            <a:extLst>
              <a:ext uri="{FF2B5EF4-FFF2-40B4-BE49-F238E27FC236}">
                <a16:creationId xmlns:a16="http://schemas.microsoft.com/office/drawing/2014/main" id="{F3C7822E-9081-A031-B8CC-C3847B43F35E}"/>
              </a:ext>
            </a:extLst>
          </p:cNvPr>
          <p:cNvSpPr txBox="1"/>
          <p:nvPr/>
        </p:nvSpPr>
        <p:spPr>
          <a:xfrm>
            <a:off x="2362200" y="266700"/>
            <a:ext cx="9159240" cy="707886"/>
          </a:xfrm>
          <a:prstGeom prst="rect">
            <a:avLst/>
          </a:prstGeom>
          <a:noFill/>
        </p:spPr>
        <p:txBody>
          <a:bodyPr wrap="square">
            <a:spAutoFit/>
          </a:bodyPr>
          <a:lstStyle/>
          <a:p>
            <a:pPr algn="l">
              <a:spcBef>
                <a:spcPts val="450"/>
              </a:spcBef>
              <a:spcAft>
                <a:spcPts val="450"/>
              </a:spcAft>
              <a:buFont typeface="+mj-lt"/>
              <a:buAutoNum type="arabicPeriod" startAt="2"/>
            </a:pPr>
            <a:r>
              <a:rPr lang="en-US" sz="2000" b="1" i="0" dirty="0">
                <a:effectLst/>
                <a:latin typeface="Times New Roman" panose="02020603050405020304" pitchFamily="18" charset="0"/>
                <a:cs typeface="Times New Roman" panose="02020603050405020304" pitchFamily="18" charset="0"/>
              </a:rPr>
              <a:t>Backend to Blockchain Integration</a:t>
            </a:r>
            <a:br>
              <a:rPr lang="en-US" sz="2000" b="0" i="0" dirty="0">
                <a:effectLst/>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From </a:t>
            </a:r>
            <a:r>
              <a:rPr lang="en-US" sz="2000" b="0"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blockchainService.js</a:t>
            </a:r>
            <a:endParaRPr lang="en-US" sz="2000" b="0" i="0" dirty="0">
              <a:effectLst/>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85FCED1F-4C5F-FC63-0337-A887A8CCA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7913" y="266700"/>
            <a:ext cx="13088687" cy="10287000"/>
          </a:xfrm>
          <a:prstGeom prst="rect">
            <a:avLst/>
          </a:prstGeom>
        </p:spPr>
      </p:pic>
    </p:spTree>
    <p:extLst>
      <p:ext uri="{BB962C8B-B14F-4D97-AF65-F5344CB8AC3E}">
        <p14:creationId xmlns:p14="http://schemas.microsoft.com/office/powerpoint/2010/main" val="2550039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5FFF514B-5661-08FB-1E10-E095E0676B4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293F95D-F33A-020A-7AD7-75EE689B09DD}"/>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61A8D3BA-4FE1-AF48-A5DF-D5607DBE7C2A}"/>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E3987B47-0455-279F-39DE-686FBBBF780C}"/>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046FE4AE-DBCA-BBBD-7BFA-FC83BD35A193}"/>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AB2E9EF4-5425-B95F-F02E-B5C7D4646C36}"/>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6CE3B6ED-82AA-50FB-589A-7B97D86B70D4}"/>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EA4B8C64-40A8-37D6-12F2-AA4FEBAD31BB}"/>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F11CFEE8-A075-37D7-C5DF-50A80F453789}"/>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7E9269F6-942E-BCA8-3674-25E35A4A1F61}"/>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E49C19DF-ACA3-3A0E-2677-45807C7B7979}"/>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4" name="TextBox 13">
            <a:extLst>
              <a:ext uri="{FF2B5EF4-FFF2-40B4-BE49-F238E27FC236}">
                <a16:creationId xmlns:a16="http://schemas.microsoft.com/office/drawing/2014/main" id="{D9292586-A0F0-D68C-9A23-4F7A42D451D1}"/>
              </a:ext>
            </a:extLst>
          </p:cNvPr>
          <p:cNvSpPr txBox="1"/>
          <p:nvPr/>
        </p:nvSpPr>
        <p:spPr>
          <a:xfrm>
            <a:off x="4549140" y="4639576"/>
            <a:ext cx="9159240" cy="286360"/>
          </a:xfrm>
          <a:prstGeom prst="rect">
            <a:avLst/>
          </a:prstGeom>
          <a:noFill/>
        </p:spPr>
        <p:txBody>
          <a:bodyPr wrap="square">
            <a:spAutoFit/>
          </a:bodyPr>
          <a:lstStyle/>
          <a:p>
            <a:pPr>
              <a:lnSpc>
                <a:spcPts val="1425"/>
              </a:lnSpc>
              <a:buNone/>
            </a:pPr>
            <a:endParaRPr lang="en-IN" b="0" dirty="0">
              <a:solidFill>
                <a:srgbClr val="CCCCCC"/>
              </a:solidFill>
              <a:effectLst/>
              <a:latin typeface="Consolas" panose="020B0609020204030204" pitchFamily="49" charset="0"/>
            </a:endParaRPr>
          </a:p>
        </p:txBody>
      </p:sp>
      <p:sp>
        <p:nvSpPr>
          <p:cNvPr id="19" name="TextBox 18">
            <a:extLst>
              <a:ext uri="{FF2B5EF4-FFF2-40B4-BE49-F238E27FC236}">
                <a16:creationId xmlns:a16="http://schemas.microsoft.com/office/drawing/2014/main" id="{FAD52FB9-985D-C08C-9C74-AE86CFCA9038}"/>
              </a:ext>
            </a:extLst>
          </p:cNvPr>
          <p:cNvSpPr txBox="1"/>
          <p:nvPr/>
        </p:nvSpPr>
        <p:spPr>
          <a:xfrm>
            <a:off x="5410200" y="2007633"/>
            <a:ext cx="8298180" cy="293029"/>
          </a:xfrm>
          <a:prstGeom prst="rect">
            <a:avLst/>
          </a:prstGeom>
          <a:noFill/>
        </p:spPr>
        <p:txBody>
          <a:bodyPr wrap="square">
            <a:spAutoFit/>
          </a:bodyPr>
          <a:lstStyle/>
          <a:p>
            <a:pPr>
              <a:lnSpc>
                <a:spcPts val="1375"/>
              </a:lnSpc>
              <a:buNone/>
            </a:pPr>
            <a:r>
              <a:rPr lang="en-IN" sz="2000" dirty="0">
                <a:effectLst/>
                <a:latin typeface="Times New Roman" panose="02020603050405020304" pitchFamily="18" charset="0"/>
                <a:ea typeface="Times New Roman" panose="02020603050405020304" pitchFamily="18" charset="0"/>
              </a:rPr>
              <a:t> </a:t>
            </a:r>
            <a:endParaRPr lang="en-IN" dirty="0"/>
          </a:p>
        </p:txBody>
      </p:sp>
      <p:sp>
        <p:nvSpPr>
          <p:cNvPr id="12" name="Slide Number Placeholder 11">
            <a:extLst>
              <a:ext uri="{FF2B5EF4-FFF2-40B4-BE49-F238E27FC236}">
                <a16:creationId xmlns:a16="http://schemas.microsoft.com/office/drawing/2014/main" id="{C8311319-2F5A-7D60-2146-14EA8397FAE4}"/>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15" name="TextBox 14">
            <a:extLst>
              <a:ext uri="{FF2B5EF4-FFF2-40B4-BE49-F238E27FC236}">
                <a16:creationId xmlns:a16="http://schemas.microsoft.com/office/drawing/2014/main" id="{206F0BA1-4A90-2215-EC9F-D8467F56917C}"/>
              </a:ext>
            </a:extLst>
          </p:cNvPr>
          <p:cNvSpPr txBox="1"/>
          <p:nvPr/>
        </p:nvSpPr>
        <p:spPr>
          <a:xfrm>
            <a:off x="2253934" y="419100"/>
            <a:ext cx="9159240" cy="1387559"/>
          </a:xfrm>
          <a:prstGeom prst="rect">
            <a:avLst/>
          </a:prstGeom>
          <a:noFill/>
        </p:spPr>
        <p:txBody>
          <a:bodyPr wrap="square">
            <a:spAutoFit/>
          </a:bodyPr>
          <a:lstStyle/>
          <a:p>
            <a:pPr>
              <a:spcBef>
                <a:spcPts val="450"/>
              </a:spcBef>
              <a:spcAft>
                <a:spcPts val="450"/>
              </a:spcAft>
              <a:buFont typeface="+mj-lt"/>
              <a:buAutoNum type="arabicPeriod" startAt="3"/>
            </a:pPr>
            <a:r>
              <a:rPr lang="en-US" sz="2000" b="1" dirty="0">
                <a:effectLst/>
                <a:latin typeface="Times New Roman" panose="02020603050405020304" pitchFamily="18" charset="0"/>
                <a:cs typeface="Times New Roman" panose="02020603050405020304" pitchFamily="18" charset="0"/>
              </a:rPr>
              <a:t>JWT Authentication Middleware</a:t>
            </a:r>
            <a:br>
              <a:rPr lang="en-US" sz="2000" dirty="0">
                <a:effectLst/>
                <a:latin typeface="Times New Roman" panose="02020603050405020304" pitchFamily="18" charset="0"/>
                <a:cs typeface="Times New Roman" panose="02020603050405020304" pitchFamily="18" charset="0"/>
              </a:rPr>
            </a:br>
            <a:r>
              <a:rPr lang="en-US" sz="2000" dirty="0">
                <a:effectLst/>
                <a:latin typeface="Times New Roman" panose="02020603050405020304" pitchFamily="18" charset="0"/>
                <a:cs typeface="Times New Roman" panose="02020603050405020304" pitchFamily="18" charset="0"/>
              </a:rPr>
              <a:t>From </a:t>
            </a:r>
            <a:r>
              <a:rPr lang="en-US" sz="2000" dirty="0">
                <a:solidFill>
                  <a:srgbClr val="75BFFF"/>
                </a:solidFill>
                <a:effectLst/>
                <a:latin typeface="Times New Roman" panose="02020603050405020304" pitchFamily="18" charset="0"/>
                <a:cs typeface="Times New Roman" panose="02020603050405020304" pitchFamily="18" charset="0"/>
                <a:hlinkClick r:id="rId2"/>
              </a:rPr>
              <a:t>auth.js</a:t>
            </a:r>
            <a:endParaRPr lang="en-US" sz="2000" dirty="0">
              <a:effectLst/>
              <a:latin typeface="Times New Roman" panose="02020603050405020304" pitchFamily="18" charset="0"/>
              <a:cs typeface="Times New Roman" panose="02020603050405020304" pitchFamily="18" charset="0"/>
            </a:endParaRPr>
          </a:p>
          <a:p>
            <a:pPr>
              <a:buNone/>
            </a:pPr>
            <a:br>
              <a:rPr lang="en-US" sz="2000" dirty="0">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DDFFF236-BDA0-24E9-79FF-C97D30DCA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8275" y="857250"/>
            <a:ext cx="15411450" cy="8572500"/>
          </a:xfrm>
          <a:prstGeom prst="rect">
            <a:avLst/>
          </a:prstGeom>
        </p:spPr>
      </p:pic>
    </p:spTree>
    <p:extLst>
      <p:ext uri="{BB962C8B-B14F-4D97-AF65-F5344CB8AC3E}">
        <p14:creationId xmlns:p14="http://schemas.microsoft.com/office/powerpoint/2010/main" val="1642178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10296DA1-6D89-0012-223F-F8C016B09E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AAA0DFF-3197-BB91-99AD-2689BE466BF7}"/>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2950D8FA-9D7D-05F9-2FDA-9EC0E1DC19D8}"/>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D775EC2B-80C7-EDD8-3BF3-3E2012CB5E74}"/>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C908C296-0276-EE15-5E9E-D1C69D3022D6}"/>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F796FB3A-9585-9528-1718-7D1289D8114C}"/>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9C976116-4896-7231-3510-296F93420523}"/>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FBA002E0-D2ED-52E0-D725-75616912DE9A}"/>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E24BBF8D-2ACD-91A6-0BFE-B0C949A65937}"/>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C0ADDCCE-2295-5BEE-C39F-0963DDD74060}"/>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78E07B4B-3847-F04D-EEA1-B127293500BB}"/>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5" name="TextBox 14">
            <a:extLst>
              <a:ext uri="{FF2B5EF4-FFF2-40B4-BE49-F238E27FC236}">
                <a16:creationId xmlns:a16="http://schemas.microsoft.com/office/drawing/2014/main" id="{2934C46F-4F6B-66F4-2913-7A4EFA75AE1E}"/>
              </a:ext>
            </a:extLst>
          </p:cNvPr>
          <p:cNvSpPr txBox="1"/>
          <p:nvPr/>
        </p:nvSpPr>
        <p:spPr>
          <a:xfrm>
            <a:off x="2553980" y="1638300"/>
            <a:ext cx="9158748" cy="369332"/>
          </a:xfrm>
          <a:prstGeom prst="rect">
            <a:avLst/>
          </a:prstGeom>
          <a:noFill/>
        </p:spPr>
        <p:txBody>
          <a:bodyPr wrap="square">
            <a:spAutoFit/>
          </a:bodyPr>
          <a:lstStyle/>
          <a:p>
            <a:pPr algn="just" rtl="0">
              <a:buNone/>
            </a:pPr>
            <a:endParaRPr lang="en-US" dirty="0">
              <a:effectLst/>
              <a:latin typeface="Times New Roman" panose="02020603050405020304" pitchFamily="18" charset="0"/>
              <a:cs typeface="Times New Roman" panose="02020603050405020304" pitchFamily="18" charset="0"/>
            </a:endParaRPr>
          </a:p>
        </p:txBody>
      </p:sp>
      <p:sp>
        <p:nvSpPr>
          <p:cNvPr id="12" name="Slide Number Placeholder 11">
            <a:extLst>
              <a:ext uri="{FF2B5EF4-FFF2-40B4-BE49-F238E27FC236}">
                <a16:creationId xmlns:a16="http://schemas.microsoft.com/office/drawing/2014/main" id="{2D72E9AE-F46D-E7BF-016F-28A59681A713}"/>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16" name="TextBox 15">
            <a:extLst>
              <a:ext uri="{FF2B5EF4-FFF2-40B4-BE49-F238E27FC236}">
                <a16:creationId xmlns:a16="http://schemas.microsoft.com/office/drawing/2014/main" id="{ADD3C6BF-4881-1AA4-112C-32FB885BD2A7}"/>
              </a:ext>
            </a:extLst>
          </p:cNvPr>
          <p:cNvSpPr txBox="1"/>
          <p:nvPr/>
        </p:nvSpPr>
        <p:spPr>
          <a:xfrm>
            <a:off x="2438400" y="342900"/>
            <a:ext cx="9159240" cy="1823576"/>
          </a:xfrm>
          <a:prstGeom prst="rect">
            <a:avLst/>
          </a:prstGeom>
          <a:noFill/>
        </p:spPr>
        <p:txBody>
          <a:bodyPr wrap="square">
            <a:spAutoFit/>
          </a:bodyPr>
          <a:lstStyle/>
          <a:p>
            <a:pPr>
              <a:spcBef>
                <a:spcPts val="450"/>
              </a:spcBef>
              <a:spcAft>
                <a:spcPts val="450"/>
              </a:spcAft>
              <a:buFont typeface="+mj-lt"/>
              <a:buAutoNum type="arabicPeriod" startAt="4"/>
            </a:pPr>
            <a:r>
              <a:rPr lang="en-US" sz="2000" b="1" dirty="0">
                <a:effectLst/>
                <a:latin typeface="Times New Roman" panose="02020603050405020304" pitchFamily="18" charset="0"/>
                <a:cs typeface="Times New Roman" panose="02020603050405020304" pitchFamily="18" charset="0"/>
              </a:rPr>
              <a:t>GPS Delivery Tracking Simulation</a:t>
            </a:r>
            <a:br>
              <a:rPr lang="en-US" sz="2000" b="1" dirty="0">
                <a:effectLst/>
                <a:latin typeface="Times New Roman" panose="02020603050405020304" pitchFamily="18" charset="0"/>
                <a:cs typeface="Times New Roman" panose="02020603050405020304" pitchFamily="18" charset="0"/>
              </a:rPr>
            </a:br>
            <a:r>
              <a:rPr lang="en-US" sz="2000" b="1" dirty="0">
                <a:effectLst/>
                <a:latin typeface="Times New Roman" panose="02020603050405020304" pitchFamily="18" charset="0"/>
                <a:cs typeface="Times New Roman" panose="02020603050405020304" pitchFamily="18" charset="0"/>
              </a:rPr>
              <a:t>From </a:t>
            </a:r>
            <a:r>
              <a:rPr lang="en-US" sz="2000" b="1" dirty="0">
                <a:solidFill>
                  <a:srgbClr val="75BFFF"/>
                </a:solidFill>
                <a:effectLst/>
                <a:latin typeface="Times New Roman" panose="02020603050405020304" pitchFamily="18" charset="0"/>
                <a:cs typeface="Times New Roman" panose="02020603050405020304" pitchFamily="18" charset="0"/>
                <a:hlinkClick r:id="rId2"/>
              </a:rPr>
              <a:t>gpsSimulationService.js</a:t>
            </a:r>
            <a:endParaRPr lang="en-US" sz="2000" b="1" dirty="0">
              <a:solidFill>
                <a:srgbClr val="75BFFF"/>
              </a:solidFill>
              <a:effectLst/>
              <a:latin typeface="Times New Roman" panose="02020603050405020304" pitchFamily="18" charset="0"/>
              <a:cs typeface="Times New Roman" panose="02020603050405020304" pitchFamily="18" charset="0"/>
            </a:endParaRPr>
          </a:p>
          <a:p>
            <a:pPr>
              <a:spcBef>
                <a:spcPts val="450"/>
              </a:spcBef>
              <a:spcAft>
                <a:spcPts val="450"/>
              </a:spcAft>
            </a:pPr>
            <a:r>
              <a:rPr lang="en-US" sz="2000" b="1" dirty="0">
                <a:effectLst/>
                <a:latin typeface="Times New Roman" panose="02020603050405020304" pitchFamily="18" charset="0"/>
                <a:cs typeface="Times New Roman" panose="02020603050405020304" pitchFamily="18" charset="0"/>
              </a:rPr>
              <a:t>&amp;</a:t>
            </a:r>
          </a:p>
          <a:p>
            <a:pPr>
              <a:buNone/>
            </a:pPr>
            <a:r>
              <a:rPr lang="en-US" sz="2000" b="1" dirty="0">
                <a:effectLst/>
                <a:latin typeface="Times New Roman" panose="02020603050405020304" pitchFamily="18" charset="0"/>
                <a:cs typeface="Times New Roman" panose="02020603050405020304" pitchFamily="18" charset="0"/>
              </a:rPr>
              <a:t>5.</a:t>
            </a:r>
            <a:r>
              <a:rPr lang="en-IN" sz="2000" b="1" dirty="0">
                <a:latin typeface="Times New Roman" panose="02020603050405020304" pitchFamily="18" charset="0"/>
                <a:cs typeface="Times New Roman" panose="02020603050405020304" pitchFamily="18" charset="0"/>
              </a:rPr>
              <a:t> From </a:t>
            </a:r>
            <a:r>
              <a:rPr lang="en-IN" sz="2000" b="1" dirty="0">
                <a:latin typeface="Times New Roman" panose="02020603050405020304" pitchFamily="18" charset="0"/>
                <a:cs typeface="Times New Roman" panose="02020603050405020304" pitchFamily="18" charset="0"/>
                <a:hlinkClick r:id="rId2"/>
              </a:rPr>
              <a:t>generateOrderNumber.js</a:t>
            </a:r>
            <a:br>
              <a:rPr lang="en-US" sz="2000" b="1" dirty="0">
                <a:effectLst/>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4C784E21-635F-D93A-8C38-BD5B97D2EA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4620" y="1638300"/>
            <a:ext cx="8686800" cy="8473087"/>
          </a:xfrm>
          <a:prstGeom prst="rect">
            <a:avLst/>
          </a:prstGeom>
        </p:spPr>
      </p:pic>
    </p:spTree>
    <p:extLst>
      <p:ext uri="{BB962C8B-B14F-4D97-AF65-F5344CB8AC3E}">
        <p14:creationId xmlns:p14="http://schemas.microsoft.com/office/powerpoint/2010/main" val="2635578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4743EA12-324F-84DD-6931-4D237E0A79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85A9637-9E69-C118-3ED3-487A7ACC0B44}"/>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657FE633-B0B6-5F48-97EF-D136EE2AF3DD}"/>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8AA2C8E8-727E-4723-DAA2-46B629D6AF9B}"/>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2AC95858-0EEF-8118-338E-0B239B6578A1}"/>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E7BAA383-C80F-A066-B167-DA84D4C75FE2}"/>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F26872C7-44E9-F419-17A0-5740A3B01CC0}"/>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35C9D541-00B3-8293-2A73-E30E88250672}"/>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5404ADC2-EF52-0AE2-2C14-9C7357F9E0FD}"/>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F06ADE7F-F2C9-94AB-F1FF-78ED252A9971}"/>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4968D6EE-FDB1-3873-F6EC-90AB8B8B6741}"/>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4" name="TextBox 14">
            <a:extLst>
              <a:ext uri="{FF2B5EF4-FFF2-40B4-BE49-F238E27FC236}">
                <a16:creationId xmlns:a16="http://schemas.microsoft.com/office/drawing/2014/main" id="{AD8A334E-4630-CFF9-11E2-63211660D581}"/>
              </a:ext>
            </a:extLst>
          </p:cNvPr>
          <p:cNvSpPr txBox="1"/>
          <p:nvPr/>
        </p:nvSpPr>
        <p:spPr>
          <a:xfrm>
            <a:off x="2514601" y="333375"/>
            <a:ext cx="14291690" cy="928139"/>
          </a:xfrm>
          <a:prstGeom prst="rect">
            <a:avLst/>
          </a:prstGeom>
        </p:spPr>
        <p:txBody>
          <a:bodyPr wrap="square" lIns="0" tIns="0" rIns="0" bIns="0" rtlCol="0" anchor="t">
            <a:spAutoFit/>
          </a:bodyPr>
          <a:lstStyle/>
          <a:p>
            <a:pPr>
              <a:lnSpc>
                <a:spcPts val="8400"/>
              </a:lnSpc>
            </a:pPr>
            <a:r>
              <a:rPr lang="en-US" sz="4000" b="1" dirty="0">
                <a:solidFill>
                  <a:srgbClr val="000000"/>
                </a:solidFill>
                <a:latin typeface="Times New Roman Bold"/>
                <a:ea typeface="Times New Roman Bold"/>
                <a:cs typeface="Times New Roman Bold"/>
                <a:sym typeface="Times New Roman Bold"/>
              </a:rPr>
              <a:t>OUTPUT :</a:t>
            </a:r>
          </a:p>
        </p:txBody>
      </p:sp>
      <p:sp>
        <p:nvSpPr>
          <p:cNvPr id="12" name="Slide Number Placeholder 11">
            <a:extLst>
              <a:ext uri="{FF2B5EF4-FFF2-40B4-BE49-F238E27FC236}">
                <a16:creationId xmlns:a16="http://schemas.microsoft.com/office/drawing/2014/main" id="{4DB0E92F-FBB9-6182-37D2-7C9FFF07393E}"/>
              </a:ext>
            </a:extLst>
          </p:cNvPr>
          <p:cNvSpPr>
            <a:spLocks noGrp="1"/>
          </p:cNvSpPr>
          <p:nvPr>
            <p:ph type="sldNum" sz="quarter" idx="12"/>
          </p:nvPr>
        </p:nvSpPr>
        <p:spPr/>
        <p:txBody>
          <a:bodyPr/>
          <a:lstStyle/>
          <a:p>
            <a:fld id="{B6F15528-21DE-4FAA-801E-634DDDAF4B2B}" type="slidenum">
              <a:rPr lang="en-US" smtClean="0"/>
              <a:pPr/>
              <a:t>20</a:t>
            </a:fld>
            <a:endParaRPr lang="en-US"/>
          </a:p>
        </p:txBody>
      </p:sp>
      <p:pic>
        <p:nvPicPr>
          <p:cNvPr id="15" name="Picture 14">
            <a:extLst>
              <a:ext uri="{FF2B5EF4-FFF2-40B4-BE49-F238E27FC236}">
                <a16:creationId xmlns:a16="http://schemas.microsoft.com/office/drawing/2014/main" id="{A3A89DA3-7F29-AA6F-3DB3-640DD3F04C2F}"/>
              </a:ext>
            </a:extLst>
          </p:cNvPr>
          <p:cNvPicPr>
            <a:picLocks noChangeAspect="1"/>
          </p:cNvPicPr>
          <p:nvPr/>
        </p:nvPicPr>
        <p:blipFill>
          <a:blip r:embed="rId2"/>
          <a:srcRect t="12300"/>
          <a:stretch>
            <a:fillRect/>
          </a:stretch>
        </p:blipFill>
        <p:spPr>
          <a:xfrm>
            <a:off x="2768037" y="1612018"/>
            <a:ext cx="14625637" cy="7062964"/>
          </a:xfrm>
          <a:prstGeom prst="rect">
            <a:avLst/>
          </a:prstGeom>
        </p:spPr>
      </p:pic>
    </p:spTree>
    <p:extLst>
      <p:ext uri="{BB962C8B-B14F-4D97-AF65-F5344CB8AC3E}">
        <p14:creationId xmlns:p14="http://schemas.microsoft.com/office/powerpoint/2010/main" val="3942713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4D81D822-6BCB-4190-A521-813D9B3925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B607A9F-2115-8A1E-A4F9-42DAA0F15600}"/>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F9D2AF05-211A-F44D-DC7D-D3ACAE7021DB}"/>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C061B099-C9CB-D00B-A57D-6D65AB5C17EA}"/>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20946862-F7A7-93CC-E029-DB51DE717C64}"/>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89D15CE0-40AE-6C96-C9D0-FD990D211CB5}"/>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F91CC57D-8EF8-974D-44F6-B4F6006474B7}"/>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B928A2C8-B5CC-5E2E-9D42-754F03B85C74}"/>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517EE977-4B9F-451E-8E23-D2EC21D4499A}"/>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F7E8EE55-5447-DAE1-F20F-6A30257BBF0F}"/>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A8FDCED3-2DBA-5343-B9C5-6A9DF9EEB43D}"/>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4" name="TextBox 14">
            <a:extLst>
              <a:ext uri="{FF2B5EF4-FFF2-40B4-BE49-F238E27FC236}">
                <a16:creationId xmlns:a16="http://schemas.microsoft.com/office/drawing/2014/main" id="{8D4C5CF9-63BA-31E9-1E41-053BD7AF1D19}"/>
              </a:ext>
            </a:extLst>
          </p:cNvPr>
          <p:cNvSpPr txBox="1"/>
          <p:nvPr/>
        </p:nvSpPr>
        <p:spPr>
          <a:xfrm>
            <a:off x="2514601" y="333375"/>
            <a:ext cx="14291690" cy="928139"/>
          </a:xfrm>
          <a:prstGeom prst="rect">
            <a:avLst/>
          </a:prstGeom>
        </p:spPr>
        <p:txBody>
          <a:bodyPr wrap="square" lIns="0" tIns="0" rIns="0" bIns="0" rtlCol="0" anchor="t">
            <a:spAutoFit/>
          </a:bodyPr>
          <a:lstStyle/>
          <a:p>
            <a:pPr>
              <a:lnSpc>
                <a:spcPts val="8400"/>
              </a:lnSpc>
            </a:pPr>
            <a:r>
              <a:rPr lang="en-US" sz="4000" b="1" dirty="0">
                <a:solidFill>
                  <a:srgbClr val="000000"/>
                </a:solidFill>
                <a:latin typeface="Times New Roman Bold"/>
                <a:ea typeface="Times New Roman Bold"/>
                <a:cs typeface="Times New Roman Bold"/>
                <a:sym typeface="Times New Roman Bold"/>
              </a:rPr>
              <a:t>OUTPUT :</a:t>
            </a:r>
          </a:p>
        </p:txBody>
      </p:sp>
      <p:sp>
        <p:nvSpPr>
          <p:cNvPr id="12" name="Slide Number Placeholder 11">
            <a:extLst>
              <a:ext uri="{FF2B5EF4-FFF2-40B4-BE49-F238E27FC236}">
                <a16:creationId xmlns:a16="http://schemas.microsoft.com/office/drawing/2014/main" id="{4835A910-471E-D501-51D2-60E700EEC136}"/>
              </a:ext>
            </a:extLst>
          </p:cNvPr>
          <p:cNvSpPr>
            <a:spLocks noGrp="1"/>
          </p:cNvSpPr>
          <p:nvPr>
            <p:ph type="sldNum" sz="quarter" idx="12"/>
          </p:nvPr>
        </p:nvSpPr>
        <p:spPr/>
        <p:txBody>
          <a:bodyPr/>
          <a:lstStyle/>
          <a:p>
            <a:fld id="{B6F15528-21DE-4FAA-801E-634DDDAF4B2B}" type="slidenum">
              <a:rPr lang="en-US" smtClean="0"/>
              <a:pPr/>
              <a:t>21</a:t>
            </a:fld>
            <a:endParaRPr lang="en-US"/>
          </a:p>
        </p:txBody>
      </p:sp>
      <p:pic>
        <p:nvPicPr>
          <p:cNvPr id="18" name="Picture 17">
            <a:extLst>
              <a:ext uri="{FF2B5EF4-FFF2-40B4-BE49-F238E27FC236}">
                <a16:creationId xmlns:a16="http://schemas.microsoft.com/office/drawing/2014/main" id="{A700C05A-E07A-6CF5-F8F6-86D7678FC56B}"/>
              </a:ext>
            </a:extLst>
          </p:cNvPr>
          <p:cNvPicPr>
            <a:picLocks noChangeAspect="1"/>
          </p:cNvPicPr>
          <p:nvPr/>
        </p:nvPicPr>
        <p:blipFill>
          <a:blip r:embed="rId2"/>
          <a:stretch>
            <a:fillRect/>
          </a:stretch>
        </p:blipFill>
        <p:spPr>
          <a:xfrm>
            <a:off x="2768038" y="2605087"/>
            <a:ext cx="14291690" cy="5076825"/>
          </a:xfrm>
          <a:prstGeom prst="rect">
            <a:avLst/>
          </a:prstGeom>
        </p:spPr>
      </p:pic>
    </p:spTree>
    <p:extLst>
      <p:ext uri="{BB962C8B-B14F-4D97-AF65-F5344CB8AC3E}">
        <p14:creationId xmlns:p14="http://schemas.microsoft.com/office/powerpoint/2010/main" val="2740965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F5290234-D7BB-9D1B-9F53-50F7D36892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ABBDDFB-D748-DD2B-D1DC-8C365A314966}"/>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0AEAFDEE-0A2D-3770-8D72-548229FAD7AC}"/>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14EC3743-BBC0-214D-F98E-73800EA50E1B}"/>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FA5625EA-147E-8DB3-A3AE-98AF473188D6}"/>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6F7DBE10-B796-1FAA-E539-A567BE91A4F2}"/>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29334E7D-254E-8C2F-3A88-976BA05DE33C}"/>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6EC9406A-8630-A949-2C82-4C5EEEF224D2}"/>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2FA9EBB3-4C4B-2820-E8E9-BA5230FFFD8F}"/>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6806A4D8-4020-F48D-42D4-FF4F52CE2DB0}"/>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CA3BD9CD-91E8-0035-74F2-7060894FC344}"/>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a:extLst>
              <a:ext uri="{FF2B5EF4-FFF2-40B4-BE49-F238E27FC236}">
                <a16:creationId xmlns:a16="http://schemas.microsoft.com/office/drawing/2014/main" id="{0A3D14C1-1F1A-E6CA-289F-5844699E33AF}"/>
              </a:ext>
            </a:extLst>
          </p:cNvPr>
          <p:cNvSpPr txBox="1"/>
          <p:nvPr/>
        </p:nvSpPr>
        <p:spPr>
          <a:xfrm>
            <a:off x="2389587" y="1346900"/>
            <a:ext cx="15653366" cy="8617744"/>
          </a:xfrm>
          <a:prstGeom prst="rect">
            <a:avLst/>
          </a:prstGeom>
        </p:spPr>
        <p:txBody>
          <a:bodyPr lIns="0" tIns="0" rIns="0" bIns="0" rtlCol="0" anchor="t">
            <a:spAutoFit/>
          </a:bodyPr>
          <a:lstStyle/>
          <a:p>
            <a:pPr algn="just"/>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Farm-to-Market Supply Chain Platform</a:t>
            </a:r>
            <a:r>
              <a:rPr lang="en-US" sz="2800" dirty="0">
                <a:latin typeface="Times New Roman" panose="02020603050405020304" pitchFamily="18" charset="0"/>
                <a:cs typeface="Times New Roman" panose="02020603050405020304" pitchFamily="18" charset="0"/>
              </a:rPr>
              <a:t> was developed to create a secure, transparent, and efficient agricultural marketplace that directly connects farmers and buyers. The project successfully combines web technologies with blockchain to reduce dependency on middlemen, improve product traceability, and maintain trusted records of supply chain activities. By integrating product listing, order management, payment handling, and tracking features, the system provides a practical digital solution for modern agricultural trade.</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The implementation of blockchain in this project plays an important role in ensuring tamper-proof storage of important events such as product creation, order placement, payment updates, and delivery status changes. The use of React, Node.js, Express, MongoDB, Solidity, Truffle, and Ganache helped in building a complete prototype that demonstrates how technology can improve trust, accountability, and operational efficiency in farm-to-market transactions.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The system also supports multiple user roles such as farmer, buyer, and admin, making it more flexible and functional. Although the project is currently developed for local demonstration and academic purposes, it clearly shows the potential of blockchain-enabled agricultural systems in real-world applications. With further improvements such as live deployment, real GPS tracking, production blockchain integration, and advanced analytics, the platform can be expanded into a scalable and practical solution for the agricultural sector. Overall, this project proves that digital and blockchain-based systems can significantly enhance transparency, security, and traceability in the agricultural supply chain.</a:t>
            </a:r>
          </a:p>
        </p:txBody>
      </p:sp>
      <p:sp>
        <p:nvSpPr>
          <p:cNvPr id="14" name="TextBox 14">
            <a:extLst>
              <a:ext uri="{FF2B5EF4-FFF2-40B4-BE49-F238E27FC236}">
                <a16:creationId xmlns:a16="http://schemas.microsoft.com/office/drawing/2014/main" id="{E4961267-E768-D0CB-7D01-FE0AF22FE807}"/>
              </a:ext>
            </a:extLst>
          </p:cNvPr>
          <p:cNvSpPr txBox="1"/>
          <p:nvPr/>
        </p:nvSpPr>
        <p:spPr>
          <a:xfrm>
            <a:off x="3626251" y="333375"/>
            <a:ext cx="13180039" cy="988284"/>
          </a:xfrm>
          <a:prstGeom prst="rect">
            <a:avLst/>
          </a:prstGeom>
        </p:spPr>
        <p:txBody>
          <a:bodyPr lIns="0" tIns="0" rIns="0" bIns="0" rtlCol="0" anchor="t">
            <a:spAutoFit/>
          </a:bodyPr>
          <a:lstStyle/>
          <a:p>
            <a:pPr algn="ctr">
              <a:lnSpc>
                <a:spcPts val="8400"/>
              </a:lnSpc>
            </a:pPr>
            <a:r>
              <a:rPr lang="en-US" sz="6000" b="1" dirty="0">
                <a:solidFill>
                  <a:srgbClr val="000000"/>
                </a:solidFill>
                <a:latin typeface="Times New Roman Bold"/>
                <a:ea typeface="Times New Roman Bold"/>
                <a:cs typeface="Times New Roman Bold"/>
                <a:sym typeface="Times New Roman Bold"/>
              </a:rPr>
              <a:t>CONCLUSION</a:t>
            </a:r>
          </a:p>
        </p:txBody>
      </p:sp>
    </p:spTree>
    <p:extLst>
      <p:ext uri="{BB962C8B-B14F-4D97-AF65-F5344CB8AC3E}">
        <p14:creationId xmlns:p14="http://schemas.microsoft.com/office/powerpoint/2010/main" val="2310552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9B9F98DB-2828-B2AB-B5B2-47E8896AC2B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20C8D6-B02E-D534-1420-30E4D3E15252}"/>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5C4A0A65-95F3-72F4-D6FD-86300FAEF751}"/>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EE02067A-424C-8A08-B5B6-BD680332FD23}"/>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8F2B9FD5-5124-5001-29A8-9EC0E3CD3840}"/>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9BB90D0F-A9F1-ED29-E30F-88C9FFE57980}"/>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3FDCE876-DFF5-75AB-7646-AAF1450F2978}"/>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31858386-6E88-8D13-3ED3-13BF7FACF4F2}"/>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F51668B0-D9D3-1383-0825-FBE806FC582C}"/>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49E846B7-68FD-52AC-15E4-0533B4C2DA6E}"/>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9376D560-A566-4F8E-FC97-06A9941475C4}"/>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a:extLst>
              <a:ext uri="{FF2B5EF4-FFF2-40B4-BE49-F238E27FC236}">
                <a16:creationId xmlns:a16="http://schemas.microsoft.com/office/drawing/2014/main" id="{769C7BD1-09D8-3D5E-3E32-E52EBD6F246A}"/>
              </a:ext>
            </a:extLst>
          </p:cNvPr>
          <p:cNvSpPr txBox="1"/>
          <p:nvPr/>
        </p:nvSpPr>
        <p:spPr>
          <a:xfrm>
            <a:off x="2389587" y="1485900"/>
            <a:ext cx="15653366" cy="8079135"/>
          </a:xfrm>
          <a:prstGeom prst="rect">
            <a:avLst/>
          </a:prstGeom>
        </p:spPr>
        <p:txBody>
          <a:bodyPr lIns="0" tIns="0" rIns="0" bIns="0" rtlCol="0" anchor="t">
            <a:spAutoFit/>
          </a:bodyPr>
          <a:lstStyle/>
          <a:p>
            <a:pPr marL="342900" indent="-342900" algn="just">
              <a:buFont typeface="+mj-lt"/>
              <a:buAutoNum type="arabicPeriod"/>
            </a:pPr>
            <a:r>
              <a:rPr lang="en-US" sz="3500" dirty="0">
                <a:latin typeface="Times New Roman" panose="02020603050405020304" pitchFamily="18" charset="0"/>
                <a:cs typeface="Times New Roman" panose="02020603050405020304" pitchFamily="18" charset="0"/>
              </a:rPr>
              <a:t>The project can be extended to a </a:t>
            </a:r>
            <a:r>
              <a:rPr lang="en-US" sz="3500" b="1" dirty="0">
                <a:latin typeface="Times New Roman" panose="02020603050405020304" pitchFamily="18" charset="0"/>
                <a:cs typeface="Times New Roman" panose="02020603050405020304" pitchFamily="18" charset="0"/>
              </a:rPr>
              <a:t>real-time production environment</a:t>
            </a:r>
            <a:r>
              <a:rPr lang="en-US" sz="3500" dirty="0">
                <a:latin typeface="Times New Roman" panose="02020603050405020304" pitchFamily="18" charset="0"/>
                <a:cs typeface="Times New Roman" panose="02020603050405020304" pitchFamily="18" charset="0"/>
              </a:rPr>
              <a:t> using a public or private blockchain network.</a:t>
            </a:r>
          </a:p>
          <a:p>
            <a:pPr marL="342900" indent="-342900" algn="just">
              <a:buFont typeface="+mj-lt"/>
              <a:buAutoNum type="arabicPeriod"/>
            </a:pPr>
            <a:endParaRPr lang="en-US" sz="35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3500" b="1" dirty="0">
                <a:latin typeface="Times New Roman" panose="02020603050405020304" pitchFamily="18" charset="0"/>
                <a:cs typeface="Times New Roman" panose="02020603050405020304" pitchFamily="18" charset="0"/>
              </a:rPr>
              <a:t>Live payment integration</a:t>
            </a:r>
            <a:r>
              <a:rPr lang="en-US" sz="3500" dirty="0">
                <a:latin typeface="Times New Roman" panose="02020603050405020304" pitchFamily="18" charset="0"/>
                <a:cs typeface="Times New Roman" panose="02020603050405020304" pitchFamily="18" charset="0"/>
              </a:rPr>
              <a:t> can be implemented instead of </a:t>
            </a:r>
            <a:r>
              <a:rPr lang="en-US" sz="3500" dirty="0" err="1">
                <a:latin typeface="Times New Roman" panose="02020603050405020304" pitchFamily="18" charset="0"/>
                <a:cs typeface="Times New Roman" panose="02020603050405020304" pitchFamily="18" charset="0"/>
              </a:rPr>
              <a:t>Razorpay</a:t>
            </a:r>
            <a:r>
              <a:rPr lang="en-US" sz="3500" dirty="0">
                <a:latin typeface="Times New Roman" panose="02020603050405020304" pitchFamily="18" charset="0"/>
                <a:cs typeface="Times New Roman" panose="02020603050405020304" pitchFamily="18" charset="0"/>
              </a:rPr>
              <a:t> test mode for actual customer transactions.</a:t>
            </a:r>
          </a:p>
          <a:p>
            <a:pPr marL="342900" indent="-342900" algn="just">
              <a:buFont typeface="+mj-lt"/>
              <a:buAutoNum type="arabicPeriod"/>
            </a:pPr>
            <a:endParaRPr lang="en-US" sz="35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3500" dirty="0">
                <a:latin typeface="Times New Roman" panose="02020603050405020304" pitchFamily="18" charset="0"/>
                <a:cs typeface="Times New Roman" panose="02020603050405020304" pitchFamily="18" charset="0"/>
              </a:rPr>
              <a:t>The system can be connected with </a:t>
            </a:r>
            <a:r>
              <a:rPr lang="en-US" sz="3500" b="1" dirty="0">
                <a:latin typeface="Times New Roman" panose="02020603050405020304" pitchFamily="18" charset="0"/>
                <a:cs typeface="Times New Roman" panose="02020603050405020304" pitchFamily="18" charset="0"/>
              </a:rPr>
              <a:t>real GPS and IoT devices</a:t>
            </a:r>
            <a:r>
              <a:rPr lang="en-US" sz="3500" dirty="0">
                <a:latin typeface="Times New Roman" panose="02020603050405020304" pitchFamily="18" charset="0"/>
                <a:cs typeface="Times New Roman" panose="02020603050405020304" pitchFamily="18" charset="0"/>
              </a:rPr>
              <a:t> for accurate shipment and product monitoring.</a:t>
            </a:r>
          </a:p>
          <a:p>
            <a:pPr marL="342900" indent="-342900" algn="just">
              <a:buFont typeface="+mj-lt"/>
              <a:buAutoNum type="arabicPeriod"/>
            </a:pPr>
            <a:endParaRPr lang="en-US" sz="35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3500" dirty="0">
                <a:latin typeface="Times New Roman" panose="02020603050405020304" pitchFamily="18" charset="0"/>
                <a:cs typeface="Times New Roman" panose="02020603050405020304" pitchFamily="18" charset="0"/>
              </a:rPr>
              <a:t>Mobile application support can be added to improve accessibility for farmers and buyers.</a:t>
            </a:r>
          </a:p>
          <a:p>
            <a:pPr marL="342900" indent="-342900" algn="just">
              <a:buFont typeface="+mj-lt"/>
              <a:buAutoNum type="arabicPeriod"/>
            </a:pPr>
            <a:endParaRPr lang="en-US" sz="35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3500" dirty="0">
                <a:latin typeface="Times New Roman" panose="02020603050405020304" pitchFamily="18" charset="0"/>
                <a:cs typeface="Times New Roman" panose="02020603050405020304" pitchFamily="18" charset="0"/>
              </a:rPr>
              <a:t>Advanced analytics can be introduced to study sales trends, delivery performance, and market demand.</a:t>
            </a:r>
          </a:p>
          <a:p>
            <a:pPr marL="342900" indent="-342900" algn="just">
              <a:buFont typeface="+mj-lt"/>
              <a:buAutoNum type="arabicPeriod"/>
            </a:pPr>
            <a:endParaRPr lang="en-US" sz="3500" dirty="0">
              <a:latin typeface="Times New Roman" panose="02020603050405020304" pitchFamily="18" charset="0"/>
              <a:cs typeface="Times New Roman" panose="02020603050405020304" pitchFamily="18" charset="0"/>
            </a:endParaRPr>
          </a:p>
        </p:txBody>
      </p:sp>
      <p:sp>
        <p:nvSpPr>
          <p:cNvPr id="14" name="TextBox 14">
            <a:extLst>
              <a:ext uri="{FF2B5EF4-FFF2-40B4-BE49-F238E27FC236}">
                <a16:creationId xmlns:a16="http://schemas.microsoft.com/office/drawing/2014/main" id="{6C3A5D76-2CF0-6F79-C67E-3E4A7F0E0DE6}"/>
              </a:ext>
            </a:extLst>
          </p:cNvPr>
          <p:cNvSpPr txBox="1"/>
          <p:nvPr/>
        </p:nvSpPr>
        <p:spPr>
          <a:xfrm>
            <a:off x="3626251" y="333375"/>
            <a:ext cx="13180039" cy="988284"/>
          </a:xfrm>
          <a:prstGeom prst="rect">
            <a:avLst/>
          </a:prstGeom>
        </p:spPr>
        <p:txBody>
          <a:bodyPr lIns="0" tIns="0" rIns="0" bIns="0" rtlCol="0" anchor="t">
            <a:spAutoFit/>
          </a:bodyPr>
          <a:lstStyle/>
          <a:p>
            <a:pPr algn="ctr">
              <a:lnSpc>
                <a:spcPts val="8400"/>
              </a:lnSpc>
            </a:pPr>
            <a:r>
              <a:rPr lang="en-US" sz="6000" b="1" dirty="0">
                <a:solidFill>
                  <a:srgbClr val="000000"/>
                </a:solidFill>
                <a:latin typeface="Times New Roman Bold"/>
                <a:ea typeface="Times New Roman Bold"/>
                <a:cs typeface="Times New Roman Bold"/>
                <a:sym typeface="Times New Roman Bold"/>
              </a:rPr>
              <a:t>FUTURE SCOPE</a:t>
            </a:r>
          </a:p>
        </p:txBody>
      </p:sp>
      <p:sp>
        <p:nvSpPr>
          <p:cNvPr id="13" name="Slide Number Placeholder 12">
            <a:extLst>
              <a:ext uri="{FF2B5EF4-FFF2-40B4-BE49-F238E27FC236}">
                <a16:creationId xmlns:a16="http://schemas.microsoft.com/office/drawing/2014/main" id="{E1A2DF18-2F6F-100C-5BCF-AAA7A530F972}"/>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964430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2AEAD4AD-D0B0-D43F-7872-B5FB50F3F5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1D7831B-ACE5-C269-9E8C-044431EAFDC2}"/>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06D91D22-3546-6E31-A14B-2FEB46E3EB32}"/>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DB3B9E0C-73B9-6D37-B1D5-B65EEE038B48}"/>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5DF60343-7762-D72D-4259-E05FB0048445}"/>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A850F26F-10AA-F31E-E79C-FD194C7A0D86}"/>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3F6F278D-5D68-B229-304C-66BC8F6E17BC}"/>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BAF5C202-55E4-2BC6-426B-84B96B5D66FC}"/>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84B8F5F1-F128-D697-3B45-4D0C5C5AE01E}"/>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A0D00897-71A4-A24C-01F2-D71899A9A479}"/>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9B274A70-2503-FDDC-6D4A-AF8097288364}"/>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a:extLst>
              <a:ext uri="{FF2B5EF4-FFF2-40B4-BE49-F238E27FC236}">
                <a16:creationId xmlns:a16="http://schemas.microsoft.com/office/drawing/2014/main" id="{6E83DE4C-7798-3C87-4CFA-98E6E1827A9A}"/>
              </a:ext>
            </a:extLst>
          </p:cNvPr>
          <p:cNvSpPr txBox="1"/>
          <p:nvPr/>
        </p:nvSpPr>
        <p:spPr>
          <a:xfrm>
            <a:off x="2514600" y="1790700"/>
            <a:ext cx="15468600" cy="6370975"/>
          </a:xfrm>
          <a:prstGeom prst="rect">
            <a:avLst/>
          </a:prstGeom>
        </p:spPr>
        <p:txBody>
          <a:bodyPr wrap="square" lIns="0" tIns="0" rIns="0" bIns="0" rtlCol="0" anchor="t">
            <a:spAutoFit/>
          </a:bodyPr>
          <a:lstStyle/>
          <a:p>
            <a:pPr marL="514350" indent="-514350" algn="just">
              <a:buFont typeface="+mj-lt"/>
              <a:buAutoNum type="arabicPeriod" startAt="6"/>
            </a:pPr>
            <a:r>
              <a:rPr lang="en-US" sz="3500" dirty="0">
                <a:latin typeface="Times New Roman" panose="02020603050405020304" pitchFamily="18" charset="0"/>
                <a:cs typeface="Times New Roman" panose="02020603050405020304" pitchFamily="18" charset="0"/>
              </a:rPr>
              <a:t>Multi-language support can be implemented to make the system more user-friendly for rural users.</a:t>
            </a:r>
          </a:p>
          <a:p>
            <a:pPr marL="514350" indent="-514350" algn="just">
              <a:buFont typeface="+mj-lt"/>
              <a:buAutoNum type="arabicPeriod" startAt="6"/>
            </a:pPr>
            <a:endParaRPr lang="en-US" sz="3200" dirty="0">
              <a:latin typeface="Times New Roman" panose="02020603050405020304" pitchFamily="18" charset="0"/>
              <a:cs typeface="Times New Roman" panose="02020603050405020304" pitchFamily="18" charset="0"/>
            </a:endParaRPr>
          </a:p>
          <a:p>
            <a:pPr marL="514350" indent="-514350" algn="just">
              <a:buFont typeface="+mj-lt"/>
              <a:buAutoNum type="arabicPeriod" startAt="6"/>
            </a:pPr>
            <a:r>
              <a:rPr lang="en-US" sz="3500" dirty="0">
                <a:latin typeface="Times New Roman" panose="02020603050405020304" pitchFamily="18" charset="0"/>
                <a:cs typeface="Times New Roman" panose="02020603050405020304" pitchFamily="18" charset="0"/>
              </a:rPr>
              <a:t>AI or machine learning features can be added for </a:t>
            </a:r>
            <a:r>
              <a:rPr lang="en-US" sz="3500" b="1" dirty="0">
                <a:latin typeface="Times New Roman" panose="02020603050405020304" pitchFamily="18" charset="0"/>
                <a:cs typeface="Times New Roman" panose="02020603050405020304" pitchFamily="18" charset="0"/>
              </a:rPr>
              <a:t>price prediction, crop demand forecasting, and sales analysis</a:t>
            </a:r>
            <a:r>
              <a:rPr lang="en-US" sz="3500" dirty="0">
                <a:latin typeface="Times New Roman" panose="02020603050405020304" pitchFamily="18" charset="0"/>
                <a:cs typeface="Times New Roman" panose="02020603050405020304" pitchFamily="18" charset="0"/>
              </a:rPr>
              <a:t>.</a:t>
            </a:r>
          </a:p>
          <a:p>
            <a:pPr marL="514350" indent="-514350" algn="just">
              <a:buFont typeface="+mj-lt"/>
              <a:buAutoNum type="arabicPeriod" startAt="6"/>
            </a:pPr>
            <a:endParaRPr lang="en-US" sz="3500" dirty="0">
              <a:latin typeface="Times New Roman" panose="02020603050405020304" pitchFamily="18" charset="0"/>
              <a:cs typeface="Times New Roman" panose="02020603050405020304" pitchFamily="18" charset="0"/>
            </a:endParaRPr>
          </a:p>
          <a:p>
            <a:pPr marL="514350" indent="-514350" algn="just">
              <a:buFont typeface="+mj-lt"/>
              <a:buAutoNum type="arabicPeriod" startAt="6"/>
            </a:pPr>
            <a:r>
              <a:rPr lang="en-US" sz="3500" dirty="0">
                <a:latin typeface="Times New Roman" panose="02020603050405020304" pitchFamily="18" charset="0"/>
                <a:cs typeface="Times New Roman" panose="02020603050405020304" pitchFamily="18" charset="0"/>
              </a:rPr>
              <a:t>QR code integration can be used for easy product verification and traceability by customers.</a:t>
            </a:r>
          </a:p>
          <a:p>
            <a:pPr marL="514350" indent="-514350" algn="just">
              <a:buFont typeface="+mj-lt"/>
              <a:buAutoNum type="arabicPeriod" startAt="6"/>
            </a:pPr>
            <a:endParaRPr lang="en-US" sz="3500" dirty="0">
              <a:latin typeface="Times New Roman" panose="02020603050405020304" pitchFamily="18" charset="0"/>
              <a:cs typeface="Times New Roman" panose="02020603050405020304" pitchFamily="18" charset="0"/>
            </a:endParaRPr>
          </a:p>
          <a:p>
            <a:pPr marL="514350" indent="-514350" algn="just">
              <a:buFont typeface="+mj-lt"/>
              <a:buAutoNum type="arabicPeriod" startAt="6"/>
            </a:pPr>
            <a:r>
              <a:rPr lang="en-US" sz="3500" dirty="0">
                <a:latin typeface="Times New Roman" panose="02020603050405020304" pitchFamily="18" charset="0"/>
                <a:cs typeface="Times New Roman" panose="02020603050405020304" pitchFamily="18" charset="0"/>
              </a:rPr>
              <a:t>The platform can be expanded to support </a:t>
            </a:r>
            <a:r>
              <a:rPr lang="en-US" sz="3500" b="1" dirty="0">
                <a:latin typeface="Times New Roman" panose="02020603050405020304" pitchFamily="18" charset="0"/>
                <a:cs typeface="Times New Roman" panose="02020603050405020304" pitchFamily="18" charset="0"/>
              </a:rPr>
              <a:t>wholesalers, retailers, and logistics providers</a:t>
            </a:r>
            <a:r>
              <a:rPr lang="en-US" sz="3500" dirty="0">
                <a:latin typeface="Times New Roman" panose="02020603050405020304" pitchFamily="18" charset="0"/>
                <a:cs typeface="Times New Roman" panose="02020603050405020304" pitchFamily="18" charset="0"/>
              </a:rPr>
              <a:t> in addition to farmers and buyers.</a:t>
            </a:r>
          </a:p>
          <a:p>
            <a:pPr marL="514350" indent="-514350" algn="just">
              <a:buFont typeface="+mj-lt"/>
              <a:buAutoNum type="arabicPeriod" startAt="6"/>
            </a:pPr>
            <a:endParaRPr lang="en-US" sz="3200" dirty="0">
              <a:latin typeface="Times New Roman" panose="02020603050405020304" pitchFamily="18" charset="0"/>
              <a:cs typeface="Times New Roman" panose="02020603050405020304" pitchFamily="18" charset="0"/>
            </a:endParaRPr>
          </a:p>
        </p:txBody>
      </p:sp>
      <p:sp>
        <p:nvSpPr>
          <p:cNvPr id="14" name="TextBox 14">
            <a:extLst>
              <a:ext uri="{FF2B5EF4-FFF2-40B4-BE49-F238E27FC236}">
                <a16:creationId xmlns:a16="http://schemas.microsoft.com/office/drawing/2014/main" id="{892B8C5C-11C1-DC75-6845-984CEF7C7EF0}"/>
              </a:ext>
            </a:extLst>
          </p:cNvPr>
          <p:cNvSpPr txBox="1"/>
          <p:nvPr/>
        </p:nvSpPr>
        <p:spPr>
          <a:xfrm>
            <a:off x="3626251" y="333375"/>
            <a:ext cx="13180039" cy="988284"/>
          </a:xfrm>
          <a:prstGeom prst="rect">
            <a:avLst/>
          </a:prstGeom>
        </p:spPr>
        <p:txBody>
          <a:bodyPr lIns="0" tIns="0" rIns="0" bIns="0" rtlCol="0" anchor="t">
            <a:spAutoFit/>
          </a:bodyPr>
          <a:lstStyle/>
          <a:p>
            <a:pPr algn="ctr">
              <a:lnSpc>
                <a:spcPts val="8400"/>
              </a:lnSpc>
            </a:pPr>
            <a:r>
              <a:rPr lang="en-US" sz="6000" b="1" dirty="0">
                <a:solidFill>
                  <a:srgbClr val="000000"/>
                </a:solidFill>
                <a:latin typeface="Times New Roman Bold"/>
                <a:ea typeface="Times New Roman Bold"/>
                <a:cs typeface="Times New Roman Bold"/>
                <a:sym typeface="Times New Roman Bold"/>
              </a:rPr>
              <a:t>FUTURE SCOPE</a:t>
            </a:r>
          </a:p>
        </p:txBody>
      </p:sp>
      <p:sp>
        <p:nvSpPr>
          <p:cNvPr id="13" name="Slide Number Placeholder 12">
            <a:extLst>
              <a:ext uri="{FF2B5EF4-FFF2-40B4-BE49-F238E27FC236}">
                <a16:creationId xmlns:a16="http://schemas.microsoft.com/office/drawing/2014/main" id="{9760AE9A-2DA7-15C5-4F4A-D05126465949}"/>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606883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AC54AC1C-E773-D993-9184-67BE344AE6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E5EB4D8-D13D-7160-CAFF-D10CB1F7F6E1}"/>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93860D94-787A-9ADE-5CE4-6DE13C49393F}"/>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E53C28AC-D4CD-BB51-F937-532A3B750DC2}"/>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F777D680-BC4A-0CD7-102C-159C5974A248}"/>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0C18CE30-5417-5053-5755-1C40EC8CF6E0}"/>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20EBDEEE-19BF-5317-B806-C3598EAD6273}"/>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CD0E021D-531A-3155-99C2-1166B93F0025}"/>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514C561C-204E-689E-45EE-24E44104139D}"/>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572AED7F-6F18-0D3F-EA13-8A54BE647FF3}"/>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C20B78F3-29FB-6887-4768-AEB8131F94F0}"/>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a:extLst>
              <a:ext uri="{FF2B5EF4-FFF2-40B4-BE49-F238E27FC236}">
                <a16:creationId xmlns:a16="http://schemas.microsoft.com/office/drawing/2014/main" id="{41C0FB03-1C2D-6D6F-D902-AE9D0DEA1B54}"/>
              </a:ext>
            </a:extLst>
          </p:cNvPr>
          <p:cNvSpPr txBox="1"/>
          <p:nvPr/>
        </p:nvSpPr>
        <p:spPr>
          <a:xfrm>
            <a:off x="2389587" y="1485900"/>
            <a:ext cx="15653366" cy="8079135"/>
          </a:xfrm>
          <a:prstGeom prst="rect">
            <a:avLst/>
          </a:prstGeom>
        </p:spPr>
        <p:txBody>
          <a:bodyPr lIns="0" tIns="0" rIns="0" bIns="0" rtlCol="0" anchor="t">
            <a:spAutoFit/>
          </a:bodyPr>
          <a:lstStyle/>
          <a:p>
            <a:pPr marL="342900" indent="-342900">
              <a:buFont typeface="+mj-lt"/>
              <a:buAutoNum type="arabicPeriod"/>
            </a:pPr>
            <a:r>
              <a:rPr lang="en-US" sz="3500" b="1" dirty="0">
                <a:latin typeface="Times New Roman" panose="02020603050405020304" pitchFamily="18" charset="0"/>
                <a:cs typeface="Times New Roman" panose="02020603050405020304" pitchFamily="18" charset="0"/>
              </a:rPr>
              <a:t>Feng Tian, 2016:</a:t>
            </a:r>
            <a:r>
              <a:rPr lang="en-US" sz="3500" dirty="0">
                <a:latin typeface="Times New Roman" panose="02020603050405020304" pitchFamily="18" charset="0"/>
                <a:cs typeface="Times New Roman" panose="02020603050405020304" pitchFamily="18" charset="0"/>
              </a:rPr>
              <a:t> Proposed an RFID and blockchain-based traceability system for agri-food </a:t>
            </a:r>
            <a:r>
              <a:rPr lang="en-US" sz="3500" dirty="0" err="1">
                <a:latin typeface="Times New Roman" panose="02020603050405020304" pitchFamily="18" charset="0"/>
                <a:cs typeface="Times New Roman" panose="02020603050405020304" pitchFamily="18" charset="0"/>
              </a:rPr>
              <a:t>products.It</a:t>
            </a:r>
            <a:r>
              <a:rPr lang="en-US" sz="3500" dirty="0">
                <a:latin typeface="Times New Roman" panose="02020603050405020304" pitchFamily="18" charset="0"/>
                <a:cs typeface="Times New Roman" panose="02020603050405020304" pitchFamily="18" charset="0"/>
              </a:rPr>
              <a:t> improved transparency and secure tracking across the agricultural supply chain.</a:t>
            </a:r>
          </a:p>
          <a:p>
            <a:pPr marL="342900" indent="-342900">
              <a:buFont typeface="+mj-lt"/>
              <a:buAutoNum type="arabicPeriod"/>
            </a:pPr>
            <a:endParaRPr lang="en-US" sz="35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500" b="1" dirty="0">
                <a:latin typeface="Times New Roman" panose="02020603050405020304" pitchFamily="18" charset="0"/>
                <a:cs typeface="Times New Roman" panose="02020603050405020304" pitchFamily="18" charset="0"/>
              </a:rPr>
              <a:t>Caro et al., 2018:</a:t>
            </a:r>
            <a:r>
              <a:rPr lang="en-US" sz="3500" dirty="0">
                <a:latin typeface="Times New Roman" panose="02020603050405020304" pitchFamily="18" charset="0"/>
                <a:cs typeface="Times New Roman" panose="02020603050405020304" pitchFamily="18" charset="0"/>
              </a:rPr>
              <a:t> Presented a practical blockchain solution for agri-food traceability </a:t>
            </a:r>
            <a:r>
              <a:rPr lang="en-US" sz="3500" dirty="0" err="1">
                <a:latin typeface="Times New Roman" panose="02020603050405020304" pitchFamily="18" charset="0"/>
                <a:cs typeface="Times New Roman" panose="02020603050405020304" pitchFamily="18" charset="0"/>
              </a:rPr>
              <a:t>management.The</a:t>
            </a:r>
            <a:r>
              <a:rPr lang="en-US" sz="3500" dirty="0">
                <a:latin typeface="Times New Roman" panose="02020603050405020304" pitchFamily="18" charset="0"/>
                <a:cs typeface="Times New Roman" panose="02020603050405020304" pitchFamily="18" charset="0"/>
              </a:rPr>
              <a:t> system integrated blockchain with IoT for secure and reliable product monitoring.</a:t>
            </a:r>
          </a:p>
          <a:p>
            <a:pPr marL="342900" indent="-342900">
              <a:buFont typeface="+mj-lt"/>
              <a:buAutoNum type="arabicPeriod"/>
            </a:pPr>
            <a:endParaRPr lang="en-US" sz="35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500" b="1" dirty="0" err="1">
                <a:latin typeface="Times New Roman" panose="02020603050405020304" pitchFamily="18" charset="0"/>
                <a:cs typeface="Times New Roman" panose="02020603050405020304" pitchFamily="18" charset="0"/>
              </a:rPr>
              <a:t>Kamilaris</a:t>
            </a:r>
            <a:r>
              <a:rPr lang="en-US" sz="3500" b="1" dirty="0">
                <a:latin typeface="Times New Roman" panose="02020603050405020304" pitchFamily="18" charset="0"/>
                <a:cs typeface="Times New Roman" panose="02020603050405020304" pitchFamily="18" charset="0"/>
              </a:rPr>
              <a:t> et al., 2019:</a:t>
            </a:r>
            <a:r>
              <a:rPr lang="en-US" sz="3500" dirty="0">
                <a:latin typeface="Times New Roman" panose="02020603050405020304" pitchFamily="18" charset="0"/>
                <a:cs typeface="Times New Roman" panose="02020603050405020304" pitchFamily="18" charset="0"/>
              </a:rPr>
              <a:t> Reviewed the rise of blockchain technology in agriculture and food supply </a:t>
            </a:r>
            <a:r>
              <a:rPr lang="en-US" sz="3500" dirty="0" err="1">
                <a:latin typeface="Times New Roman" panose="02020603050405020304" pitchFamily="18" charset="0"/>
                <a:cs typeface="Times New Roman" panose="02020603050405020304" pitchFamily="18" charset="0"/>
              </a:rPr>
              <a:t>chains.The</a:t>
            </a:r>
            <a:r>
              <a:rPr lang="en-US" sz="3500" dirty="0">
                <a:latin typeface="Times New Roman" panose="02020603050405020304" pitchFamily="18" charset="0"/>
                <a:cs typeface="Times New Roman" panose="02020603050405020304" pitchFamily="18" charset="0"/>
              </a:rPr>
              <a:t> study highlighted benefits such as transparency, trust, and end-to-end traceability.</a:t>
            </a:r>
          </a:p>
          <a:p>
            <a:pPr marL="342900" indent="-342900">
              <a:buFont typeface="+mj-lt"/>
              <a:buAutoNum type="arabicPeriod"/>
            </a:pPr>
            <a:endParaRPr lang="en-US" sz="35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500" b="1" dirty="0">
                <a:latin typeface="Times New Roman" panose="02020603050405020304" pitchFamily="18" charset="0"/>
                <a:cs typeface="Times New Roman" panose="02020603050405020304" pitchFamily="18" charset="0"/>
              </a:rPr>
              <a:t>Zhao et al., 2019:</a:t>
            </a:r>
            <a:r>
              <a:rPr lang="en-US" sz="3500" dirty="0">
                <a:latin typeface="Times New Roman" panose="02020603050405020304" pitchFamily="18" charset="0"/>
                <a:cs typeface="Times New Roman" panose="02020603050405020304" pitchFamily="18" charset="0"/>
              </a:rPr>
              <a:t> Summarized blockchain applications and challenges in agri-food value chain </a:t>
            </a:r>
            <a:r>
              <a:rPr lang="en-US" sz="3500" dirty="0" err="1">
                <a:latin typeface="Times New Roman" panose="02020603050405020304" pitchFamily="18" charset="0"/>
                <a:cs typeface="Times New Roman" panose="02020603050405020304" pitchFamily="18" charset="0"/>
              </a:rPr>
              <a:t>management.It</a:t>
            </a:r>
            <a:r>
              <a:rPr lang="en-US" sz="3500" dirty="0">
                <a:latin typeface="Times New Roman" panose="02020603050405020304" pitchFamily="18" charset="0"/>
                <a:cs typeface="Times New Roman" panose="02020603050405020304" pitchFamily="18" charset="0"/>
              </a:rPr>
              <a:t> discussed issues like privacy, scalability, regulation, and implementation cost.</a:t>
            </a:r>
          </a:p>
        </p:txBody>
      </p:sp>
      <p:sp>
        <p:nvSpPr>
          <p:cNvPr id="14" name="TextBox 14">
            <a:extLst>
              <a:ext uri="{FF2B5EF4-FFF2-40B4-BE49-F238E27FC236}">
                <a16:creationId xmlns:a16="http://schemas.microsoft.com/office/drawing/2014/main" id="{CB22983F-AA80-388D-A679-6B1D807C6C92}"/>
              </a:ext>
            </a:extLst>
          </p:cNvPr>
          <p:cNvSpPr txBox="1"/>
          <p:nvPr/>
        </p:nvSpPr>
        <p:spPr>
          <a:xfrm>
            <a:off x="3626251" y="333375"/>
            <a:ext cx="13180039" cy="988284"/>
          </a:xfrm>
          <a:prstGeom prst="rect">
            <a:avLst/>
          </a:prstGeom>
        </p:spPr>
        <p:txBody>
          <a:bodyPr lIns="0" tIns="0" rIns="0" bIns="0" rtlCol="0" anchor="t">
            <a:spAutoFit/>
          </a:bodyPr>
          <a:lstStyle/>
          <a:p>
            <a:pPr algn="ctr">
              <a:lnSpc>
                <a:spcPts val="8400"/>
              </a:lnSpc>
            </a:pPr>
            <a:r>
              <a:rPr lang="en-US" sz="6000" b="1" dirty="0">
                <a:solidFill>
                  <a:srgbClr val="000000"/>
                </a:solidFill>
                <a:latin typeface="Times New Roman Bold"/>
                <a:ea typeface="Times New Roman Bold"/>
                <a:cs typeface="Times New Roman Bold"/>
                <a:sym typeface="Times New Roman Bold"/>
              </a:rPr>
              <a:t>REFERENCES</a:t>
            </a:r>
          </a:p>
        </p:txBody>
      </p:sp>
      <p:sp>
        <p:nvSpPr>
          <p:cNvPr id="13" name="Slide Number Placeholder 12">
            <a:extLst>
              <a:ext uri="{FF2B5EF4-FFF2-40B4-BE49-F238E27FC236}">
                <a16:creationId xmlns:a16="http://schemas.microsoft.com/office/drawing/2014/main" id="{F140754F-523D-B3ED-76BC-86173D7F8567}"/>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350068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D46063D1-ABF7-1764-A20B-A8FADB983AC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883C3A-1F9A-000B-B687-853091B166A2}"/>
              </a:ext>
            </a:extLst>
          </p:cNvPr>
          <p:cNvGrpSpPr/>
          <p:nvPr/>
        </p:nvGrpSpPr>
        <p:grpSpPr>
          <a:xfrm>
            <a:off x="-31071" y="0"/>
            <a:ext cx="2239285" cy="10287000"/>
            <a:chOff x="0" y="0"/>
            <a:chExt cx="2985713" cy="13716000"/>
          </a:xfrm>
        </p:grpSpPr>
        <p:grpSp>
          <p:nvGrpSpPr>
            <p:cNvPr id="3" name="Group 3">
              <a:extLst>
                <a:ext uri="{FF2B5EF4-FFF2-40B4-BE49-F238E27FC236}">
                  <a16:creationId xmlns:a16="http://schemas.microsoft.com/office/drawing/2014/main" id="{B4768448-ECD4-585E-BAFE-C870DBC0DCDE}"/>
                </a:ext>
              </a:extLst>
            </p:cNvPr>
            <p:cNvGrpSpPr/>
            <p:nvPr/>
          </p:nvGrpSpPr>
          <p:grpSpPr>
            <a:xfrm>
              <a:off x="1492857" y="0"/>
              <a:ext cx="1492857" cy="13716000"/>
              <a:chOff x="0" y="0"/>
              <a:chExt cx="294885" cy="2709333"/>
            </a:xfrm>
          </p:grpSpPr>
          <p:sp>
            <p:nvSpPr>
              <p:cNvPr id="4" name="Freeform 4">
                <a:extLst>
                  <a:ext uri="{FF2B5EF4-FFF2-40B4-BE49-F238E27FC236}">
                    <a16:creationId xmlns:a16="http://schemas.microsoft.com/office/drawing/2014/main" id="{3769DFCE-E88F-2B4A-D51E-5CF1DDC50E2E}"/>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E0D9"/>
              </a:solidFill>
            </p:spPr>
          </p:sp>
          <p:sp>
            <p:nvSpPr>
              <p:cNvPr id="5" name="TextBox 5">
                <a:extLst>
                  <a:ext uri="{FF2B5EF4-FFF2-40B4-BE49-F238E27FC236}">
                    <a16:creationId xmlns:a16="http://schemas.microsoft.com/office/drawing/2014/main" id="{CC631111-1CCA-6156-B2BB-1B5713F1DBCF}"/>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F797DC99-780B-E025-750B-F6B54C6F7375}"/>
                </a:ext>
              </a:extLst>
            </p:cNvPr>
            <p:cNvGrpSpPr/>
            <p:nvPr/>
          </p:nvGrpSpPr>
          <p:grpSpPr>
            <a:xfrm>
              <a:off x="746428" y="0"/>
              <a:ext cx="1492857" cy="13716000"/>
              <a:chOff x="0" y="0"/>
              <a:chExt cx="294885" cy="2709333"/>
            </a:xfrm>
          </p:grpSpPr>
          <p:sp>
            <p:nvSpPr>
              <p:cNvPr id="7" name="Freeform 7">
                <a:extLst>
                  <a:ext uri="{FF2B5EF4-FFF2-40B4-BE49-F238E27FC236}">
                    <a16:creationId xmlns:a16="http://schemas.microsoft.com/office/drawing/2014/main" id="{1B836006-D8E1-97AB-EB62-A2C735E709F0}"/>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9FC3D0"/>
              </a:solidFill>
            </p:spPr>
          </p:sp>
          <p:sp>
            <p:nvSpPr>
              <p:cNvPr id="8" name="TextBox 8">
                <a:extLst>
                  <a:ext uri="{FF2B5EF4-FFF2-40B4-BE49-F238E27FC236}">
                    <a16:creationId xmlns:a16="http://schemas.microsoft.com/office/drawing/2014/main" id="{661D46F5-82DE-AF08-C3B7-808870111AE5}"/>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3B985900-7663-AF83-5B3A-370506CB821A}"/>
                </a:ext>
              </a:extLst>
            </p:cNvPr>
            <p:cNvGrpSpPr/>
            <p:nvPr/>
          </p:nvGrpSpPr>
          <p:grpSpPr>
            <a:xfrm>
              <a:off x="0" y="0"/>
              <a:ext cx="1492857" cy="13716000"/>
              <a:chOff x="0" y="0"/>
              <a:chExt cx="294885" cy="2709333"/>
            </a:xfrm>
          </p:grpSpPr>
          <p:sp>
            <p:nvSpPr>
              <p:cNvPr id="10" name="Freeform 10">
                <a:extLst>
                  <a:ext uri="{FF2B5EF4-FFF2-40B4-BE49-F238E27FC236}">
                    <a16:creationId xmlns:a16="http://schemas.microsoft.com/office/drawing/2014/main" id="{492F4942-8CFC-2671-33DA-58998A3062FF}"/>
                  </a:ext>
                </a:extLst>
              </p:cNvPr>
              <p:cNvSpPr/>
              <p:nvPr/>
            </p:nvSpPr>
            <p:spPr>
              <a:xfrm>
                <a:off x="0" y="0"/>
                <a:ext cx="294885" cy="2709333"/>
              </a:xfrm>
              <a:custGeom>
                <a:avLst/>
                <a:gdLst/>
                <a:ahLst/>
                <a:cxnLst/>
                <a:rect l="l" t="t" r="r" b="b"/>
                <a:pathLst>
                  <a:path w="294885" h="2709333">
                    <a:moveTo>
                      <a:pt x="0" y="0"/>
                    </a:moveTo>
                    <a:lnTo>
                      <a:pt x="294885" y="0"/>
                    </a:lnTo>
                    <a:lnTo>
                      <a:pt x="294885" y="2709333"/>
                    </a:lnTo>
                    <a:lnTo>
                      <a:pt x="0" y="2709333"/>
                    </a:lnTo>
                    <a:close/>
                  </a:path>
                </a:pathLst>
              </a:custGeom>
              <a:solidFill>
                <a:srgbClr val="E9C7C6"/>
              </a:solidFill>
            </p:spPr>
          </p:sp>
          <p:sp>
            <p:nvSpPr>
              <p:cNvPr id="11" name="TextBox 11">
                <a:extLst>
                  <a:ext uri="{FF2B5EF4-FFF2-40B4-BE49-F238E27FC236}">
                    <a16:creationId xmlns:a16="http://schemas.microsoft.com/office/drawing/2014/main" id="{0EAD8DA1-6C26-4EBE-58E9-26AD52805131}"/>
                  </a:ext>
                </a:extLst>
              </p:cNvPr>
              <p:cNvSpPr txBox="1"/>
              <p:nvPr/>
            </p:nvSpPr>
            <p:spPr>
              <a:xfrm>
                <a:off x="0" y="-47625"/>
                <a:ext cx="294885" cy="2756958"/>
              </a:xfrm>
              <a:prstGeom prst="rect">
                <a:avLst/>
              </a:prstGeom>
            </p:spPr>
            <p:txBody>
              <a:bodyPr lIns="50800" tIns="50800" rIns="50800" bIns="50800" rtlCol="0" anchor="ctr"/>
              <a:lstStyle/>
              <a:p>
                <a:pPr algn="ctr">
                  <a:lnSpc>
                    <a:spcPts val="2659"/>
                  </a:lnSpc>
                </a:pPr>
                <a:endParaRPr/>
              </a:p>
            </p:txBody>
          </p:sp>
        </p:grpSp>
      </p:grpSp>
      <p:sp>
        <p:nvSpPr>
          <p:cNvPr id="12" name="TextBox 12">
            <a:extLst>
              <a:ext uri="{FF2B5EF4-FFF2-40B4-BE49-F238E27FC236}">
                <a16:creationId xmlns:a16="http://schemas.microsoft.com/office/drawing/2014/main" id="{338CA41C-8DC4-9333-38BB-85D2DC2DA089}"/>
              </a:ext>
            </a:extLst>
          </p:cNvPr>
          <p:cNvSpPr txBox="1"/>
          <p:nvPr/>
        </p:nvSpPr>
        <p:spPr>
          <a:xfrm>
            <a:off x="2389587" y="1489770"/>
            <a:ext cx="15653366" cy="8079135"/>
          </a:xfrm>
          <a:prstGeom prst="rect">
            <a:avLst/>
          </a:prstGeom>
        </p:spPr>
        <p:txBody>
          <a:bodyPr lIns="0" tIns="0" rIns="0" bIns="0" rtlCol="0" anchor="t">
            <a:spAutoFit/>
          </a:bodyPr>
          <a:lstStyle/>
          <a:p>
            <a:pPr marL="342900" indent="-342900">
              <a:buFont typeface="+mj-lt"/>
              <a:buAutoNum type="arabicPeriod" startAt="5"/>
            </a:pPr>
            <a:r>
              <a:rPr lang="en-US" sz="3500" b="1" dirty="0">
                <a:latin typeface="Times New Roman" panose="02020603050405020304" pitchFamily="18" charset="0"/>
                <a:cs typeface="Times New Roman" panose="02020603050405020304" pitchFamily="18" charset="0"/>
              </a:rPr>
              <a:t>Shahid et al., 2020:</a:t>
            </a:r>
            <a:r>
              <a:rPr lang="en-US" sz="3500" dirty="0">
                <a:latin typeface="Times New Roman" panose="02020603050405020304" pitchFamily="18" charset="0"/>
                <a:cs typeface="Times New Roman" panose="02020603050405020304" pitchFamily="18" charset="0"/>
              </a:rPr>
              <a:t> Developed a complete blockchain-based agri-food supply chain solution. Their work focused on secure transactions, smart contracts, and transparent supply chain management.</a:t>
            </a:r>
          </a:p>
          <a:p>
            <a:pPr marL="342900" indent="-342900">
              <a:buFont typeface="+mj-lt"/>
              <a:buAutoNum type="arabicPeriod" startAt="5"/>
            </a:pPr>
            <a:endParaRPr lang="en-US" sz="3500" dirty="0">
              <a:latin typeface="Times New Roman" panose="02020603050405020304" pitchFamily="18" charset="0"/>
              <a:cs typeface="Times New Roman" panose="02020603050405020304" pitchFamily="18" charset="0"/>
            </a:endParaRPr>
          </a:p>
          <a:p>
            <a:pPr marL="342900" indent="-342900">
              <a:buFont typeface="+mj-lt"/>
              <a:buAutoNum type="arabicPeriod" startAt="5"/>
            </a:pPr>
            <a:r>
              <a:rPr lang="en-US" sz="3500" b="1" dirty="0">
                <a:latin typeface="Times New Roman" panose="02020603050405020304" pitchFamily="18" charset="0"/>
                <a:cs typeface="Times New Roman" panose="02020603050405020304" pitchFamily="18" charset="0"/>
              </a:rPr>
              <a:t>Marchese and Tomarchio, 2022:</a:t>
            </a:r>
            <a:r>
              <a:rPr lang="en-US" sz="3500" dirty="0">
                <a:latin typeface="Times New Roman" panose="02020603050405020304" pitchFamily="18" charset="0"/>
                <a:cs typeface="Times New Roman" panose="02020603050405020304" pitchFamily="18" charset="0"/>
              </a:rPr>
              <a:t> Proposed a blockchain-based traceability management system for agri-food supply </a:t>
            </a:r>
            <a:r>
              <a:rPr lang="en-US" sz="3500" dirty="0" err="1">
                <a:latin typeface="Times New Roman" panose="02020603050405020304" pitchFamily="18" charset="0"/>
                <a:cs typeface="Times New Roman" panose="02020603050405020304" pitchFamily="18" charset="0"/>
              </a:rPr>
              <a:t>chains.It</a:t>
            </a:r>
            <a:r>
              <a:rPr lang="en-US" sz="3500" dirty="0">
                <a:latin typeface="Times New Roman" panose="02020603050405020304" pitchFamily="18" charset="0"/>
                <a:cs typeface="Times New Roman" panose="02020603050405020304" pitchFamily="18" charset="0"/>
              </a:rPr>
              <a:t> emphasized secure architecture design and efficient tracking of food products.</a:t>
            </a:r>
          </a:p>
          <a:p>
            <a:pPr marL="342900" indent="-342900">
              <a:buFont typeface="+mj-lt"/>
              <a:buAutoNum type="arabicPeriod" startAt="5"/>
            </a:pPr>
            <a:endParaRPr lang="en-US" sz="3500" dirty="0">
              <a:latin typeface="Times New Roman" panose="02020603050405020304" pitchFamily="18" charset="0"/>
              <a:cs typeface="Times New Roman" panose="02020603050405020304" pitchFamily="18" charset="0"/>
            </a:endParaRPr>
          </a:p>
          <a:p>
            <a:pPr marL="342900" indent="-342900">
              <a:buFont typeface="+mj-lt"/>
              <a:buAutoNum type="arabicPeriod" startAt="5"/>
            </a:pPr>
            <a:r>
              <a:rPr lang="en-US" sz="3500" b="1" dirty="0" err="1">
                <a:latin typeface="Times New Roman" panose="02020603050405020304" pitchFamily="18" charset="0"/>
                <a:cs typeface="Times New Roman" panose="02020603050405020304" pitchFamily="18" charset="0"/>
              </a:rPr>
              <a:t>Yogarajan</a:t>
            </a:r>
            <a:r>
              <a:rPr lang="en-US" sz="3500" b="1" dirty="0">
                <a:latin typeface="Times New Roman" panose="02020603050405020304" pitchFamily="18" charset="0"/>
                <a:cs typeface="Times New Roman" panose="02020603050405020304" pitchFamily="18" charset="0"/>
              </a:rPr>
              <a:t> et al., 2023:</a:t>
            </a:r>
            <a:r>
              <a:rPr lang="en-US" sz="3500" dirty="0">
                <a:latin typeface="Times New Roman" panose="02020603050405020304" pitchFamily="18" charset="0"/>
                <a:cs typeface="Times New Roman" panose="02020603050405020304" pitchFamily="18" charset="0"/>
              </a:rPr>
              <a:t> Conducted a systematic literature review on blockchain adoption in agri-food supply chains. The review explained research trends, adoption factors, and practical challenges.</a:t>
            </a:r>
          </a:p>
          <a:p>
            <a:pPr marL="342900" indent="-342900">
              <a:buFont typeface="+mj-lt"/>
              <a:buAutoNum type="arabicPeriod" startAt="5"/>
            </a:pPr>
            <a:endParaRPr lang="en-US" sz="3500" dirty="0">
              <a:latin typeface="Times New Roman" panose="02020603050405020304" pitchFamily="18" charset="0"/>
              <a:cs typeface="Times New Roman" panose="02020603050405020304" pitchFamily="18" charset="0"/>
            </a:endParaRPr>
          </a:p>
          <a:p>
            <a:pPr marL="342900" indent="-342900">
              <a:buFont typeface="+mj-lt"/>
              <a:buAutoNum type="arabicPeriod" startAt="5"/>
            </a:pPr>
            <a:r>
              <a:rPr lang="en-US" sz="3500" b="1" dirty="0">
                <a:latin typeface="Times New Roman" panose="02020603050405020304" pitchFamily="18" charset="0"/>
                <a:cs typeface="Times New Roman" panose="02020603050405020304" pitchFamily="18" charset="0"/>
              </a:rPr>
              <a:t>Rashid et al., 2024:</a:t>
            </a:r>
            <a:r>
              <a:rPr lang="en-US" sz="3500" dirty="0">
                <a:latin typeface="Times New Roman" panose="02020603050405020304" pitchFamily="18" charset="0"/>
                <a:cs typeface="Times New Roman" panose="02020603050405020304" pitchFamily="18" charset="0"/>
              </a:rPr>
              <a:t> Demonstrated a blockchain-based web application for traceability and fair pricing in agriculture. The system showed how blockchain can improve farmer profitability and supply chain efficiency.</a:t>
            </a:r>
          </a:p>
        </p:txBody>
      </p:sp>
      <p:sp>
        <p:nvSpPr>
          <p:cNvPr id="14" name="TextBox 14">
            <a:extLst>
              <a:ext uri="{FF2B5EF4-FFF2-40B4-BE49-F238E27FC236}">
                <a16:creationId xmlns:a16="http://schemas.microsoft.com/office/drawing/2014/main" id="{B44BBF65-728E-F3FA-0F84-C5B95CA36570}"/>
              </a:ext>
            </a:extLst>
          </p:cNvPr>
          <p:cNvSpPr txBox="1"/>
          <p:nvPr/>
        </p:nvSpPr>
        <p:spPr>
          <a:xfrm>
            <a:off x="3626251" y="333375"/>
            <a:ext cx="13180039" cy="988284"/>
          </a:xfrm>
          <a:prstGeom prst="rect">
            <a:avLst/>
          </a:prstGeom>
        </p:spPr>
        <p:txBody>
          <a:bodyPr lIns="0" tIns="0" rIns="0" bIns="0" rtlCol="0" anchor="t">
            <a:spAutoFit/>
          </a:bodyPr>
          <a:lstStyle/>
          <a:p>
            <a:pPr algn="ctr">
              <a:lnSpc>
                <a:spcPts val="8400"/>
              </a:lnSpc>
            </a:pPr>
            <a:r>
              <a:rPr lang="en-US" sz="6000" b="1" dirty="0">
                <a:solidFill>
                  <a:srgbClr val="000000"/>
                </a:solidFill>
                <a:latin typeface="Times New Roman Bold"/>
                <a:ea typeface="Times New Roman Bold"/>
                <a:cs typeface="Times New Roman Bold"/>
                <a:sym typeface="Times New Roman Bold"/>
              </a:rPr>
              <a:t>REFERENCES</a:t>
            </a:r>
          </a:p>
        </p:txBody>
      </p:sp>
      <p:sp>
        <p:nvSpPr>
          <p:cNvPr id="13" name="Slide Number Placeholder 12">
            <a:extLst>
              <a:ext uri="{FF2B5EF4-FFF2-40B4-BE49-F238E27FC236}">
                <a16:creationId xmlns:a16="http://schemas.microsoft.com/office/drawing/2014/main" id="{7979FEA2-428C-5D4A-CC45-EBBAFF6146C1}"/>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754035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4554977" y="3462285"/>
            <a:ext cx="11627497" cy="2161682"/>
          </a:xfrm>
          <a:prstGeom prst="rect">
            <a:avLst/>
          </a:prstGeom>
        </p:spPr>
        <p:txBody>
          <a:bodyPr lIns="0" tIns="0" rIns="0" bIns="0" rtlCol="0" anchor="t">
            <a:spAutoFit/>
          </a:bodyPr>
          <a:lstStyle/>
          <a:p>
            <a:pPr algn="ctr">
              <a:lnSpc>
                <a:spcPts val="20573"/>
              </a:lnSpc>
            </a:pPr>
            <a:r>
              <a:rPr lang="en-US" sz="6000" b="1" dirty="0">
                <a:solidFill>
                  <a:srgbClr val="000000"/>
                </a:solidFill>
                <a:latin typeface="Times New Roman Bold"/>
                <a:ea typeface="Times New Roman Bold"/>
                <a:cs typeface="Times New Roman Bold"/>
                <a:sym typeface="Times New Roman Bold"/>
              </a:rPr>
              <a:t>THANK YOU….</a:t>
            </a:r>
          </a:p>
        </p:txBody>
      </p:sp>
      <p:grpSp>
        <p:nvGrpSpPr>
          <p:cNvPr id="5" name="Group 5"/>
          <p:cNvGrpSpPr/>
          <p:nvPr/>
        </p:nvGrpSpPr>
        <p:grpSpPr>
          <a:xfrm>
            <a:off x="-31071" y="0"/>
            <a:ext cx="3460071" cy="10287000"/>
            <a:chOff x="0" y="0"/>
            <a:chExt cx="5652111" cy="13716000"/>
          </a:xfrm>
        </p:grpSpPr>
        <p:grpSp>
          <p:nvGrpSpPr>
            <p:cNvPr id="6" name="Group 6"/>
            <p:cNvGrpSpPr/>
            <p:nvPr/>
          </p:nvGrpSpPr>
          <p:grpSpPr>
            <a:xfrm>
              <a:off x="2826056"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413028"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0" y="0"/>
              <a:ext cx="2826056" cy="13716000"/>
              <a:chOff x="0" y="0"/>
              <a:chExt cx="558233" cy="2709333"/>
            </a:xfrm>
          </p:grpSpPr>
          <p:sp>
            <p:nvSpPr>
              <p:cNvPr id="13" name="Freeform 13"/>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4" name="TextBox 14"/>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3" name="Slide Number Placeholder 2">
            <a:extLst>
              <a:ext uri="{FF2B5EF4-FFF2-40B4-BE49-F238E27FC236}">
                <a16:creationId xmlns:a16="http://schemas.microsoft.com/office/drawing/2014/main" id="{8CE631CA-C0F2-6CCB-7702-FC0699D107C4}"/>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BATCH_NO-05</Template>
  <TotalTime>3</TotalTime>
  <Words>2526</Words>
  <Application>Microsoft Office PowerPoint</Application>
  <PresentationFormat>Custom</PresentationFormat>
  <Paragraphs>216</Paragraphs>
  <Slides>27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Georgia Pro Light</vt:lpstr>
      <vt:lpstr>Times New Roman</vt:lpstr>
      <vt:lpstr>Times New Roman Bold</vt:lpstr>
      <vt:lpstr>Calibri</vt:lpstr>
      <vt:lpstr>Georgia</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BATHULA HARISAIKUMAR</dc:creator>
  <cp:lastModifiedBy>BATHULA HARISAIKUMAR</cp:lastModifiedBy>
  <cp:revision>1</cp:revision>
  <dcterms:created xsi:type="dcterms:W3CDTF">2026-04-08T18:55:34Z</dcterms:created>
  <dcterms:modified xsi:type="dcterms:W3CDTF">2026-04-08T18:59:21Z</dcterms:modified>
  <dc:identifier>DAGiQgBET1M</dc:identifier>
</cp:coreProperties>
</file>